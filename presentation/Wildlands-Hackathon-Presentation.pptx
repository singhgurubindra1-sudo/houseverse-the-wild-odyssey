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bb084c3-909f-44e3-d904-c4e3112eba56}">
          <p14:sldIdLst>
            <p14:sldId id="256"/>
          </p14:sldIdLst>
        </p14:section>
        <p14:section name="The problem" id="{bd7e55b0-309b-a1c2-4431-86abd343c151}">
          <p14:sldIdLst>
            <p14:sldId id="257"/>
          </p14:sldIdLst>
        </p14:section>
        <p14:section name="Our solution" id="{6efd6719-4686-94f1-bf5e-d61d059305ca}">
          <p14:sldIdLst>
            <p14:sldId id="258"/>
            <p14:sldId id="259"/>
            <p14:sldId id="260"/>
            <p14:sldId id="261"/>
            <p14:sldId id="262"/>
            <p14:sldId id="263"/>
            <p14:sldId id="264"/>
            <p14:sldId id="265"/>
          </p14:sldIdLst>
        </p14:section>
        <p14:section name="For organisers" id="{07397caa-d351-f149-2b89-3fd55d8354bb}">
          <p14:sldIdLst>
            <p14:sldId id="266"/>
          </p14:sldIdLst>
        </p14:section>
        <p14:section name="Technology" id="{d60ef219-7dd3-92d7-aa9e-d883f5596ce1}">
          <p14:sldIdLst>
            <p14:sldId id="267"/>
            <p14:sldId id="268"/>
            <p14:sldId id="269"/>
          </p14:sldIdLst>
        </p14:section>
        <p14:section name="Summary" id="{f4326368-bb94-6357-d16d-aa09176b11f3}">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4A2B"/>
                </a:solidFill>
                <a:latin typeface="+mn-lt"/>
              </a:defRPr>
            </a:pPr>
            <a:r>
              <a:rPr sz="1400" b="0" i="0" u="none" strike="noStrike">
                <a:solidFill>
                  <a:srgbClr val="134A2B"/>
                </a:solidFill>
                <a:latin typeface="+mn-lt"/>
              </a:rPr>
              <a:t>House Seeds needed for each forest stage</a:t>
            </a:r>
          </a:p>
        </c:rich>
      </c:tx>
      <c:layout/>
      <c:overlay val="0"/>
    </c:title>
    <c:autoTitleDeleted val="0"/>
    <c:plotArea>
      <c:layout/>
      <c:barChart>
        <c:barDir val="col"/>
        <c:grouping val="clustered"/>
        <c:varyColors val="0"/>
        <c:ser>
          <c:idx val="0"/>
          <c:order val="0"/>
          <c:tx>
            <c:strRef>
              <c:f>Sheet1!$B$1</c:f>
              <c:strCache>
                <c:ptCount val="1"/>
                <c:pt idx="0">
                  <c:v>House Seeds needed</c:v>
                </c:pt>
              </c:strCache>
            </c:strRef>
          </c:tx>
          <c:spPr>
            <a:solidFill>
              <a:srgbClr val="C9B48A"/>
            </a:solidFill>
            <a:effectLst/>
          </c:spPr>
          <c:invertIfNegative val="0"/>
          <c:dLbls>
            <c:numFmt formatCode="#,##0" sourceLinked="0"/>
            <c:txPr>
              <a:bodyPr/>
              <a:lstStyle/>
              <a:p>
                <a:pPr>
                  <a:defRPr b="0" i="0" strike="noStrike" sz="1200" u="none">
                    <a:solidFill>
                      <a:srgbClr val="16261B"/>
                    </a:solidFill>
                    <a:latin typeface="+mn-lt"/>
                  </a:defRPr>
                </a:pPr>
              </a:p>
            </c:txPr>
            <c:showLegendKey val="0"/>
            <c:showVal val="1"/>
            <c:showCatName val="0"/>
            <c:showSerName val="0"/>
            <c:showPercent val="0"/>
            <c:showBubbleSize val="0"/>
            <c:showLeaderLines val="0"/>
          </c:dLbls>
          <c:dPt>
            <c:idx val="0"/>
            <c:invertIfNegative val="0"/>
            <c:bubble3D val="0"/>
            <c:spPr>
              <a:solidFill>
                <a:srgbClr val="C9B48A"/>
              </a:solidFill>
              <a:effectLst/>
            </c:spPr>
          </c:dPt>
          <c:dPt>
            <c:idx val="1"/>
            <c:invertIfNegative val="0"/>
            <c:bubble3D val="0"/>
            <c:spPr>
              <a:solidFill>
                <a:srgbClr val="B9D98F"/>
              </a:solidFill>
              <a:effectLst/>
            </c:spPr>
          </c:dPt>
          <c:dPt>
            <c:idx val="2"/>
            <c:invertIfNegative val="0"/>
            <c:bubble3D val="0"/>
            <c:spPr>
              <a:solidFill>
                <a:srgbClr val="8CC45A"/>
              </a:solidFill>
              <a:effectLst/>
            </c:spPr>
          </c:dPt>
          <c:dPt>
            <c:idx val="3"/>
            <c:invertIfNegative val="0"/>
            <c:bubble3D val="0"/>
            <c:spPr>
              <a:solidFill>
                <a:srgbClr val="3E8F55"/>
              </a:solidFill>
              <a:effectLst/>
            </c:spPr>
          </c:dPt>
          <c:dPt>
            <c:idx val="4"/>
            <c:invertIfNegative val="0"/>
            <c:bubble3D val="0"/>
            <c:spPr>
              <a:solidFill>
                <a:srgbClr val="1F6B40"/>
              </a:solidFill>
              <a:effectLst/>
            </c:spPr>
          </c:dPt>
          <c:cat>
            <c:multiLvlStrRef>
              <c:f>Sheet1!$A$2:$A$6</c:f>
              <c:multiLvlStrCache>
                <c:ptCount val="5"/>
                <c:lvl>
                  <c:pt idx="0">
                    <c:v>Bare Land</c:v>
                  </c:pt>
                  <c:pt idx="1">
                    <c:v>Sapling</c:v>
                  </c:pt>
                  <c:pt idx="2">
                    <c:v>Grove</c:v>
                  </c:pt>
                  <c:pt idx="3">
                    <c:v>Forest</c:v>
                  </c:pt>
                  <c:pt idx="4">
                    <c:v>Wildlands</c:v>
                  </c:pt>
                </c:lvl>
              </c:multiLvlStrCache>
            </c:multiLvlStrRef>
          </c:cat>
          <c:val>
            <c:numRef>
              <c:f>Sheet1!$B$2:$B$6</c:f>
              <c:numCache>
                <c:formatCode>General</c:formatCode>
                <c:ptCount val="5"/>
                <c:pt idx="0">
                  <c:v>0</c:v>
                </c:pt>
                <c:pt idx="1">
                  <c:v>100</c:v>
                </c:pt>
                <c:pt idx="2">
                  <c:v>300</c:v>
                </c:pt>
                <c:pt idx="3">
                  <c:v>700</c:v>
                </c:pt>
                <c:pt idx="4">
                  <c:v>1500</c:v>
                </c:pt>
              </c:numCache>
            </c:numRef>
          </c:val>
        </c:ser>
        <c:dLbls>
          <c:numFmt formatCode="#,##0" sourceLinked="0"/>
          <c:txPr>
            <a:bodyPr/>
            <a:lstStyle/>
            <a:p>
              <a:pPr>
                <a:defRPr b="0" i="0" strike="noStrike" sz="1200" u="none">
                  <a:solidFill>
                    <a:srgbClr val="16261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4F"/>
                </a:solidFill>
                <a:latin typeface="+mn-lt"/>
              </a:defRPr>
            </a:pPr>
            <a:endParaRPr lang="en-US"/>
          </a:p>
        </c:txPr>
        <c:crossAx val="2094734552"/>
        <c:crosses val="autoZero"/>
        <c:auto val="1"/>
        <c:lblAlgn val="ctr"/>
        <c:noMultiLvlLbl val="1"/>
      </c:catAx>
      <c:valAx>
        <c:axId val="2094734552"/>
        <c:scaling>
          <c:orientation val="minMax"/>
          <c:max val="1750"/>
          <c:min val="0"/>
        </c:scaling>
        <c:delete val="0"/>
        <c:axPos val="l"/>
        <c:majorGridlines>
          <c:spPr>
            <a:ln w="9525" cap="flat">
              <a:solidFill>
                <a:srgbClr val="D5E3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4F"/>
                </a:solidFill>
                <a:latin typeface="+mn-lt"/>
              </a:defRPr>
            </a:pPr>
            <a:endParaRPr lang="en-US"/>
          </a:p>
        </c:txPr>
        <c:crossAx val="2094734554"/>
        <c:crosses val="autoZero"/>
        <c:crossBetween val="between"/>
        <c:majorUnit val="2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presenting Wildlands. New members drift away because they don't feel connected and their work goes unseen. Wildlands fixes that by turning every house into a living forest that grows as its members take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organisers described the problem: students join a house and drift away. They never feel connected, and the things they do for the house go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boring points table, each house gets its own living forest on screen. Over the semester, nine empty patches of land turn into nine living national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Wildlands has four building blocks, and each one covers a suggested feature from the brief. They all feed the same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two minutes a newcomer learns their house's story and plants their first seed. That's the moment they feel they belong.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60-second loop is the heart of the demo: the admin creates a quest, the member submits a photo, the admin taps Approve, and a tree sprouts on the member's screen with their name. Approve is a single database transaction, so all five steps happen together or not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house's forest looks like its real namesake, with its own trees, water and legendary animal. All nine houses are in the system with their names, colours and animals, so any house could adopt Wildlands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are called Seeds. Each approved quest gives Seeds to both the member and the house. Houses move through five stages, members earn rank titles, and badges reward variety and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anti-drift mechanic. If a house has no approved quests for a week, its forest gently wilts. Admins also see a list of members who have gone quiet for two weeks, so a leader can message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member gets a Habitat Card: badges, rank title, a breakdown across Tech, Sports and Culture, and a mini map of just the trees they planted. A share button gives a link they can put on LinkedIn.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usability is 20% of the score, so we built it as carefully as the member side. Organisers run everything from their phone with forms and buttons, and the overview flags members who are going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Next.js App Router, which the judges give extra credit for. Pages load data with server components, and every button that changes data is a server action. Supabase provides the Postgres database, login and file storage, with Row Level Security. It's deployed on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stop cheating? Every quest needs proof and admin approval, and every approval is logged. How is data kept safe? Row Level Security in the database means members can only change their own data, even if someone tampers with the website. We tested these rules on a real Postgres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open this on their phones, so we designed for the phone first. The whole site uses a liquid glass look, and the forests are 3D dioramas you can tilt. Everything is drawn in lightweight SVG, so it stays sharp and loads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Wildlands maps onto the four judging criteria, with the weights from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a house actually use this? Yes: it's free to run, every house is already set up, and organisers manage it without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WL_DARK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WL_DARK_CLOSING-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WL_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L_DARK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91640"/>
            <a:ext cx="548640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640080" y="2880360"/>
            <a:ext cx="5486400" cy="548640"/>
          </a:xfrm>
          <a:prstGeom prst="rect">
            <a:avLst/>
          </a:prstGeom>
          <a:noFill/>
          <a:ln/>
        </p:spPr>
        <p:txBody>
          <a:bodyPr wrap="square" rtlCol="0"/>
          <a:lstStyle>
            <a:lvl1pPr indent="0" marL="0">
              <a:buNone/>
              <a:defRPr lang="en-US" sz="2600" dirty="0">
                <a:solidFill>
                  <a:schemeClr val="bg2"/>
                </a:solidFill>
              </a:defRPr>
            </a:lvl1pPr>
          </a:lstStyle>
          <a:p>
            <a:pP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L_DARK_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972800" cy="1051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560320"/>
            <a:ext cx="10972800" cy="5486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L_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4A5A4F"/>
                </a:solidFill>
              </a:rPr>
              <a:t>Wildlands · Saranda House Build-a-Thon '26</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p:cNvSpPr txBox="1"/>
          <p:nvPr/>
        </p:nvSpPr>
        <p:spPr>
          <a:xfrm>
            <a:off x="640080" y="1188720"/>
            <a:ext cx="5669280" cy="320040"/>
          </a:xfrm>
          <a:prstGeom prst="rect">
            <a:avLst/>
          </a:prstGeom>
          <a:noFill/>
          <a:ln/>
        </p:spPr>
        <p:txBody>
          <a:bodyPr wrap="square" lIns="0" tIns="0" rIns="0" bIns="0" rtlCol="0" anchor="t"/>
          <a:lstStyle/>
          <a:p>
            <a:pPr indent="0" marL="0">
              <a:buNone/>
            </a:pPr>
            <a:r>
              <a:rPr lang="en-US" sz="1200" b="1" spc="100" kern="0" dirty="0">
                <a:solidFill>
                  <a:schemeClr val="accent2"/>
                </a:solidFill>
              </a:rPr>
              <a:t>SARANDA HOUSE BUILD-A-THON '26 · HOUSE ODYSSEY</a:t>
            </a:r>
            <a:endParaRPr lang="en-US" sz="1200" dirty="0"/>
          </a:p>
        </p:txBody>
      </p:sp>
      <p:sp>
        <p:nvSpPr>
          <p:cNvPr id="3" name="Text 0"/>
          <p:cNvSpPr/>
          <p:nvPr>
            <p:ph idx="100" type="title" hasCustomPrompt="1"/>
          </p:nvPr>
        </p:nvSpPr>
        <p:spPr>
          <a:xfrm>
            <a:off x="640080" y="1691640"/>
            <a:ext cx="5486400" cy="1188720"/>
          </a:xfrm>
          <a:prstGeom prst="rect">
            <a:avLst/>
          </a:prstGeom>
          <a:noFill/>
          <a:ln/>
        </p:spPr>
        <p:txBody>
          <a:bodyPr wrap="square" lIns="0" tIns="0" rIns="0" bIns="0" rtlCol="0" anchor="ctr"/>
          <a:lstStyle/>
          <a:p>
            <a:pPr algn="l" indent="0" marL="0">
              <a:buNone/>
            </a:pPr>
            <a:r>
              <a:rPr lang="en-US" sz="6600" b="1" dirty="0">
                <a:solidFill>
                  <a:schemeClr val="bg1"/>
                </a:solidFill>
              </a:rPr>
              <a:t>Wildlands</a:t>
            </a:r>
            <a:endParaRPr lang="en-US" sz="6600" dirty="0"/>
          </a:p>
        </p:txBody>
      </p:sp>
      <p:sp>
        <p:nvSpPr>
          <p:cNvPr id="4" name="Text 0"/>
          <p:cNvSpPr/>
          <p:nvPr>
            <p:ph idx="101" type="body" hasCustomPrompt="1"/>
          </p:nvPr>
        </p:nvSpPr>
        <p:spPr>
          <a:xfrm>
            <a:off x="640080" y="2880360"/>
            <a:ext cx="5486400" cy="548640"/>
          </a:xfrm>
          <a:prstGeom prst="rect">
            <a:avLst/>
          </a:prstGeom>
          <a:noFill/>
          <a:ln/>
        </p:spPr>
        <p:txBody>
          <a:bodyPr wrap="square" lIns="0" tIns="0" rIns="0" bIns="0" rtlCol="0" anchor="t"/>
          <a:lstStyle/>
          <a:p>
            <a:pPr indent="0" marL="0">
              <a:buNone/>
            </a:pPr>
            <a:r>
              <a:rPr lang="en-US" sz="2600" dirty="0">
                <a:solidFill>
                  <a:schemeClr val="bg2"/>
                </a:solidFill>
              </a:rPr>
              <a:t>A living house ecosystem</a:t>
            </a:r>
            <a:endParaRPr lang="en-US" sz="2600" dirty="0"/>
          </a:p>
        </p:txBody>
      </p:sp>
      <p:sp>
        <p:nvSpPr>
          <p:cNvPr id="5" name="intro"/>
          <p:cNvSpPr txBox="1"/>
          <p:nvPr/>
        </p:nvSpPr>
        <p:spPr>
          <a:xfrm>
            <a:off x="640080" y="3703320"/>
            <a:ext cx="5303520" cy="1280160"/>
          </a:xfrm>
          <a:prstGeom prst="rect">
            <a:avLst/>
          </a:prstGeom>
          <a:noFill/>
          <a:ln/>
        </p:spPr>
        <p:txBody>
          <a:bodyPr wrap="square" lIns="0" tIns="0" rIns="0" bIns="0" rtlCol="0" anchor="t"/>
          <a:lstStyle/>
          <a:p>
            <a:pPr indent="0" marL="0">
              <a:buNone/>
            </a:pPr>
            <a:r>
              <a:rPr lang="en-US" sz="1600" dirty="0">
                <a:solidFill>
                  <a:schemeClr val="bg2"/>
                </a:solidFill>
              </a:rPr>
              <a:t>Every quest a member finishes plants a tree or brings an animal back to their house's forest. Nine empty patches of land become nine living national parks, and everyone can see who helped them grow.</a:t>
            </a:r>
            <a:endParaRPr lang="en-US" sz="1600" dirty="0"/>
          </a:p>
        </p:txBody>
      </p:sp>
      <p:sp>
        <p:nvSpPr>
          <p:cNvPr id="6" name="Corbett forest diorama frame"/>
          <p:cNvSpPr/>
          <p:nvPr/>
        </p:nvSpPr>
        <p:spPr>
          <a:xfrm>
            <a:off x="6373368" y="1252728"/>
            <a:ext cx="5312664" cy="2724912"/>
          </a:xfrm>
          <a:prstGeom prst="roundRect">
            <a:avLst>
              <a:gd name="adj" fmla="val 6040"/>
            </a:avLst>
          </a:prstGeom>
          <a:solidFill>
            <a:schemeClr val="bg1">
              <a:alpha val="12000"/>
            </a:schemeClr>
          </a:solidFill>
          <a:ln w="15875">
            <a:solidFill>
              <a:schemeClr val="bg1">
                <a:alpha val="45000"/>
              </a:schemeClr>
            </a:solidFill>
            <a:prstDash val="solid"/>
          </a:ln>
          <a:effectLst>
            <a:outerShdw sx="100000" sy="100000" kx="0" ky="0" algn="bl" rotWithShape="0" blurRad="177800" dist="50800" dir="5400000">
              <a:srgbClr val="000000">
                <a:alpha val="30000"/>
              </a:srgbClr>
            </a:outerShdw>
          </a:effectLst>
        </p:spPr>
      </p:sp>
      <p:pic>
        <p:nvPicPr>
          <p:cNvPr id="7" name="Corbett forest diorama" descr="The Corbett house forest at the Wildlands stage, with trees, a river and the Bengal tiger">    </p:cNvPr>
          <p:cNvPicPr>
            <a:picLocks noChangeAspect="1"/>
          </p:cNvPicPr>
          <p:nvPr/>
        </p:nvPicPr>
        <p:blipFill>
          <a:blip r:embed="rId1"/>
          <a:srcRect l="0" r="0" t="0" b="0"/>
          <a:stretch/>
        </p:blipFill>
        <p:spPr>
          <a:xfrm>
            <a:off x="6446520" y="1325880"/>
            <a:ext cx="5166360" cy="2578608"/>
          </a:xfrm>
          <a:prstGeom prst="rect">
            <a:avLst/>
          </a:prstGeom>
        </p:spPr>
      </p:pic>
      <p:sp>
        <p:nvSpPr>
          <p:cNvPr id="8" name="caption"/>
          <p:cNvSpPr txBox="1"/>
          <p:nvPr/>
        </p:nvSpPr>
        <p:spPr>
          <a:xfrm>
            <a:off x="6446520" y="4069080"/>
            <a:ext cx="5166360" cy="320040"/>
          </a:xfrm>
          <a:prstGeom prst="rect">
            <a:avLst/>
          </a:prstGeom>
          <a:noFill/>
          <a:ln/>
        </p:spPr>
        <p:txBody>
          <a:bodyPr wrap="square" lIns="0" tIns="0" rIns="0" bIns="0" rtlCol="0" anchor="t"/>
          <a:lstStyle/>
          <a:p>
            <a:pPr indent="0" marL="0">
              <a:buNone/>
            </a:pPr>
            <a:r>
              <a:rPr lang="en-US" sz="1200" i="1" dirty="0">
                <a:solidFill>
                  <a:schemeClr val="bg2"/>
                </a:solidFill>
              </a:rPr>
              <a:t>Corbett's forest, fully grown: the Bengal tiger has returned</a:t>
            </a:r>
            <a:endParaRPr lang="en-US" sz="1200" dirty="0"/>
          </a:p>
        </p:txBody>
      </p:sp>
      <p:sp>
        <p:nvSpPr>
          <p:cNvPr id="9" name="stage Seed circle"/>
          <p:cNvSpPr/>
          <p:nvPr/>
        </p:nvSpPr>
        <p:spPr>
          <a:xfrm>
            <a:off x="640080" y="5212080"/>
            <a:ext cx="640080" cy="640080"/>
          </a:xfrm>
          <a:prstGeom prst="ellipse">
            <a:avLst/>
          </a:prstGeom>
          <a:solidFill>
            <a:schemeClr val="accent1"/>
          </a:solidFill>
          <a:ln w="19050">
            <a:solidFill>
              <a:schemeClr val="bg1"/>
            </a:solidFill>
            <a:prstDash val="solid"/>
          </a:ln>
        </p:spPr>
      </p:sp>
      <p:pic>
        <p:nvPicPr>
          <p:cNvPr id="10" name="stage Seed icon" descr="preencoded.png">    </p:cNvPr>
          <p:cNvPicPr>
            <a:picLocks noChangeAspect="1"/>
          </p:cNvPicPr>
          <p:nvPr/>
        </p:nvPicPr>
        <p:blipFill>
          <a:blip r:embed="rId2"/>
          <a:stretch>
            <a:fillRect/>
          </a:stretch>
        </p:blipFill>
        <p:spPr>
          <a:xfrm>
            <a:off x="793699" y="5365699"/>
            <a:ext cx="332842" cy="332842"/>
          </a:xfrm>
          <a:prstGeom prst="rect">
            <a:avLst/>
          </a:prstGeom>
        </p:spPr>
      </p:pic>
      <p:sp>
        <p:nvSpPr>
          <p:cNvPr id="11" name="stage label 0"/>
          <p:cNvSpPr txBox="1"/>
          <p:nvPr/>
        </p:nvSpPr>
        <p:spPr>
          <a:xfrm>
            <a:off x="274320" y="594360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Seed</a:t>
            </a:r>
            <a:endParaRPr lang="en-US" sz="1400" dirty="0"/>
          </a:p>
        </p:txBody>
      </p:sp>
      <p:sp>
        <p:nvSpPr>
          <p:cNvPr id="12" name="stage link 1"/>
          <p:cNvSpPr/>
          <p:nvPr/>
        </p:nvSpPr>
        <p:spPr>
          <a:xfrm>
            <a:off x="1325880" y="5532120"/>
            <a:ext cx="1463040" cy="0"/>
          </a:xfrm>
          <a:prstGeom prst="line">
            <a:avLst/>
          </a:prstGeom>
          <a:noFill/>
          <a:ln w="19050">
            <a:solidFill>
              <a:schemeClr val="bg1">
                <a:alpha val="60000"/>
              </a:schemeClr>
            </a:solidFill>
            <a:prstDash val="dash"/>
          </a:ln>
        </p:spPr>
      </p:sp>
      <p:sp>
        <p:nvSpPr>
          <p:cNvPr id="13" name="stage Sapling circle"/>
          <p:cNvSpPr/>
          <p:nvPr/>
        </p:nvSpPr>
        <p:spPr>
          <a:xfrm>
            <a:off x="2907792" y="5212080"/>
            <a:ext cx="640080" cy="640080"/>
          </a:xfrm>
          <a:prstGeom prst="ellipse">
            <a:avLst/>
          </a:prstGeom>
          <a:solidFill>
            <a:schemeClr val="accent1"/>
          </a:solidFill>
          <a:ln w="19050">
            <a:solidFill>
              <a:schemeClr val="bg1"/>
            </a:solidFill>
            <a:prstDash val="solid"/>
          </a:ln>
        </p:spPr>
      </p:sp>
      <p:pic>
        <p:nvPicPr>
          <p:cNvPr id="14" name="stage Sapling icon" descr="preencoded.png">    </p:cNvPr>
          <p:cNvPicPr>
            <a:picLocks noChangeAspect="1"/>
          </p:cNvPicPr>
          <p:nvPr/>
        </p:nvPicPr>
        <p:blipFill>
          <a:blip r:embed="rId3"/>
          <a:stretch>
            <a:fillRect/>
          </a:stretch>
        </p:blipFill>
        <p:spPr>
          <a:xfrm>
            <a:off x="3061411" y="5365699"/>
            <a:ext cx="332842" cy="332842"/>
          </a:xfrm>
          <a:prstGeom prst="rect">
            <a:avLst/>
          </a:prstGeom>
        </p:spPr>
      </p:pic>
      <p:sp>
        <p:nvSpPr>
          <p:cNvPr id="15" name="stage label 1"/>
          <p:cNvSpPr txBox="1"/>
          <p:nvPr/>
        </p:nvSpPr>
        <p:spPr>
          <a:xfrm>
            <a:off x="2542032" y="594360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Sapling</a:t>
            </a:r>
            <a:endParaRPr lang="en-US" sz="1400" dirty="0"/>
          </a:p>
        </p:txBody>
      </p:sp>
      <p:sp>
        <p:nvSpPr>
          <p:cNvPr id="16" name="stage link 2"/>
          <p:cNvSpPr/>
          <p:nvPr/>
        </p:nvSpPr>
        <p:spPr>
          <a:xfrm>
            <a:off x="3593592" y="5532120"/>
            <a:ext cx="1463040" cy="0"/>
          </a:xfrm>
          <a:prstGeom prst="line">
            <a:avLst/>
          </a:prstGeom>
          <a:noFill/>
          <a:ln w="19050">
            <a:solidFill>
              <a:schemeClr val="bg1">
                <a:alpha val="60000"/>
              </a:schemeClr>
            </a:solidFill>
            <a:prstDash val="dash"/>
          </a:ln>
        </p:spPr>
      </p:sp>
      <p:sp>
        <p:nvSpPr>
          <p:cNvPr id="17" name="stage Grove circle"/>
          <p:cNvSpPr/>
          <p:nvPr/>
        </p:nvSpPr>
        <p:spPr>
          <a:xfrm>
            <a:off x="5175504" y="5212080"/>
            <a:ext cx="640080" cy="640080"/>
          </a:xfrm>
          <a:prstGeom prst="ellipse">
            <a:avLst/>
          </a:prstGeom>
          <a:solidFill>
            <a:schemeClr val="accent1"/>
          </a:solidFill>
          <a:ln w="19050">
            <a:solidFill>
              <a:schemeClr val="bg1"/>
            </a:solidFill>
            <a:prstDash val="solid"/>
          </a:ln>
        </p:spPr>
      </p:sp>
      <p:pic>
        <p:nvPicPr>
          <p:cNvPr id="18" name="stage Grove icon" descr="preencoded.png">    </p:cNvPr>
          <p:cNvPicPr>
            <a:picLocks noChangeAspect="1"/>
          </p:cNvPicPr>
          <p:nvPr/>
        </p:nvPicPr>
        <p:blipFill>
          <a:blip r:embed="rId4"/>
          <a:stretch>
            <a:fillRect/>
          </a:stretch>
        </p:blipFill>
        <p:spPr>
          <a:xfrm>
            <a:off x="5329123" y="5365699"/>
            <a:ext cx="332842" cy="332842"/>
          </a:xfrm>
          <a:prstGeom prst="rect">
            <a:avLst/>
          </a:prstGeom>
        </p:spPr>
      </p:pic>
      <p:sp>
        <p:nvSpPr>
          <p:cNvPr id="19" name="stage label 2"/>
          <p:cNvSpPr txBox="1"/>
          <p:nvPr/>
        </p:nvSpPr>
        <p:spPr>
          <a:xfrm>
            <a:off x="4809744" y="594360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Grove</a:t>
            </a:r>
            <a:endParaRPr lang="en-US" sz="1400" dirty="0"/>
          </a:p>
        </p:txBody>
      </p:sp>
      <p:sp>
        <p:nvSpPr>
          <p:cNvPr id="20" name="stage link 3"/>
          <p:cNvSpPr/>
          <p:nvPr/>
        </p:nvSpPr>
        <p:spPr>
          <a:xfrm>
            <a:off x="5861304" y="5532120"/>
            <a:ext cx="1463040" cy="0"/>
          </a:xfrm>
          <a:prstGeom prst="line">
            <a:avLst/>
          </a:prstGeom>
          <a:noFill/>
          <a:ln w="19050">
            <a:solidFill>
              <a:schemeClr val="bg1">
                <a:alpha val="60000"/>
              </a:schemeClr>
            </a:solidFill>
            <a:prstDash val="dash"/>
          </a:ln>
        </p:spPr>
      </p:sp>
      <p:sp>
        <p:nvSpPr>
          <p:cNvPr id="21" name="stage Forest circle"/>
          <p:cNvSpPr/>
          <p:nvPr/>
        </p:nvSpPr>
        <p:spPr>
          <a:xfrm>
            <a:off x="7443216" y="5212080"/>
            <a:ext cx="640080" cy="640080"/>
          </a:xfrm>
          <a:prstGeom prst="ellipse">
            <a:avLst/>
          </a:prstGeom>
          <a:solidFill>
            <a:schemeClr val="accent1"/>
          </a:solidFill>
          <a:ln w="19050">
            <a:solidFill>
              <a:schemeClr val="bg1"/>
            </a:solidFill>
            <a:prstDash val="solid"/>
          </a:ln>
        </p:spPr>
      </p:sp>
      <p:pic>
        <p:nvPicPr>
          <p:cNvPr id="22" name="stage Forest icon" descr="preencoded.png">    </p:cNvPr>
          <p:cNvPicPr>
            <a:picLocks noChangeAspect="1"/>
          </p:cNvPicPr>
          <p:nvPr/>
        </p:nvPicPr>
        <p:blipFill>
          <a:blip r:embed="rId5"/>
          <a:stretch>
            <a:fillRect/>
          </a:stretch>
        </p:blipFill>
        <p:spPr>
          <a:xfrm>
            <a:off x="7596835" y="5365699"/>
            <a:ext cx="332842" cy="332842"/>
          </a:xfrm>
          <a:prstGeom prst="rect">
            <a:avLst/>
          </a:prstGeom>
        </p:spPr>
      </p:pic>
      <p:sp>
        <p:nvSpPr>
          <p:cNvPr id="23" name="stage label 3"/>
          <p:cNvSpPr txBox="1"/>
          <p:nvPr/>
        </p:nvSpPr>
        <p:spPr>
          <a:xfrm>
            <a:off x="7077456" y="594360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Forest</a:t>
            </a:r>
            <a:endParaRPr lang="en-US" sz="1400" dirty="0"/>
          </a:p>
        </p:txBody>
      </p:sp>
      <p:sp>
        <p:nvSpPr>
          <p:cNvPr id="24" name="stage link 4"/>
          <p:cNvSpPr/>
          <p:nvPr/>
        </p:nvSpPr>
        <p:spPr>
          <a:xfrm>
            <a:off x="8129016" y="5532120"/>
            <a:ext cx="1463040" cy="0"/>
          </a:xfrm>
          <a:prstGeom prst="line">
            <a:avLst/>
          </a:prstGeom>
          <a:noFill/>
          <a:ln w="19050">
            <a:solidFill>
              <a:schemeClr val="bg1">
                <a:alpha val="60000"/>
              </a:schemeClr>
            </a:solidFill>
            <a:prstDash val="dash"/>
          </a:ln>
        </p:spPr>
      </p:sp>
      <p:sp>
        <p:nvSpPr>
          <p:cNvPr id="25" name="stage Wildlands circle"/>
          <p:cNvSpPr/>
          <p:nvPr/>
        </p:nvSpPr>
        <p:spPr>
          <a:xfrm>
            <a:off x="9710928" y="5212080"/>
            <a:ext cx="640080" cy="640080"/>
          </a:xfrm>
          <a:prstGeom prst="ellipse">
            <a:avLst/>
          </a:prstGeom>
          <a:solidFill>
            <a:schemeClr val="accent1"/>
          </a:solidFill>
          <a:ln w="19050">
            <a:solidFill>
              <a:schemeClr val="bg1"/>
            </a:solidFill>
            <a:prstDash val="solid"/>
          </a:ln>
        </p:spPr>
      </p:sp>
      <p:pic>
        <p:nvPicPr>
          <p:cNvPr id="26" name="stage Wildlands icon" descr="preencoded.png">    </p:cNvPr>
          <p:cNvPicPr>
            <a:picLocks noChangeAspect="1"/>
          </p:cNvPicPr>
          <p:nvPr/>
        </p:nvPicPr>
        <p:blipFill>
          <a:blip r:embed="rId6"/>
          <a:stretch>
            <a:fillRect/>
          </a:stretch>
        </p:blipFill>
        <p:spPr>
          <a:xfrm>
            <a:off x="9864547" y="5365699"/>
            <a:ext cx="332842" cy="332842"/>
          </a:xfrm>
          <a:prstGeom prst="rect">
            <a:avLst/>
          </a:prstGeom>
        </p:spPr>
      </p:pic>
      <p:sp>
        <p:nvSpPr>
          <p:cNvPr id="27" name="stage label 4"/>
          <p:cNvSpPr txBox="1"/>
          <p:nvPr/>
        </p:nvSpPr>
        <p:spPr>
          <a:xfrm>
            <a:off x="9345168" y="594360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Wildlands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New students join a house, then quietly drift away</a:t>
            </a:r>
            <a:endParaRPr lang="en-US" sz="3400" dirty="0"/>
          </a:p>
        </p:txBody>
      </p:sp>
      <p:sp>
        <p:nvSpPr>
          <p:cNvPr id="3" name="problem card 1"/>
          <p:cNvSpPr/>
          <p:nvPr/>
        </p:nvSpPr>
        <p:spPr>
          <a:xfrm>
            <a:off x="548640" y="1508760"/>
            <a:ext cx="3511296" cy="3063240"/>
          </a:xfrm>
          <a:prstGeom prst="roundRect">
            <a:avLst>
              <a:gd name="adj" fmla="val 537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problem 1 circle"/>
          <p:cNvSpPr/>
          <p:nvPr/>
        </p:nvSpPr>
        <p:spPr>
          <a:xfrm>
            <a:off x="868680" y="1783080"/>
            <a:ext cx="731520" cy="731520"/>
          </a:xfrm>
          <a:prstGeom prst="ellipse">
            <a:avLst/>
          </a:prstGeom>
          <a:solidFill>
            <a:schemeClr val="accent5"/>
          </a:solidFill>
          <a:ln w="19050">
            <a:solidFill>
              <a:schemeClr val="bg1"/>
            </a:solidFill>
            <a:prstDash val="solid"/>
          </a:ln>
        </p:spPr>
      </p:sp>
      <p:pic>
        <p:nvPicPr>
          <p:cNvPr id="5" name="problem 1 icon" descr="preencoded.png">    </p:cNvPr>
          <p:cNvPicPr>
            <a:picLocks noChangeAspect="1"/>
          </p:cNvPicPr>
          <p:nvPr/>
        </p:nvPicPr>
        <p:blipFill>
          <a:blip r:embed="rId1"/>
          <a:stretch>
            <a:fillRect/>
          </a:stretch>
        </p:blipFill>
        <p:spPr>
          <a:xfrm>
            <a:off x="1044245" y="1958645"/>
            <a:ext cx="380390" cy="380390"/>
          </a:xfrm>
          <a:prstGeom prst="rect">
            <a:avLst/>
          </a:prstGeom>
        </p:spPr>
      </p:pic>
      <p:sp>
        <p:nvSpPr>
          <p:cNvPr id="6" name="problem title 1"/>
          <p:cNvSpPr txBox="1"/>
          <p:nvPr/>
        </p:nvSpPr>
        <p:spPr>
          <a:xfrm>
            <a:off x="868680" y="2697480"/>
            <a:ext cx="2880360" cy="457200"/>
          </a:xfrm>
          <a:prstGeom prst="rect">
            <a:avLst/>
          </a:prstGeom>
          <a:noFill/>
          <a:ln/>
        </p:spPr>
        <p:txBody>
          <a:bodyPr wrap="square" lIns="0" tIns="0" rIns="0" bIns="0" rtlCol="0" anchor="t"/>
          <a:lstStyle/>
          <a:p>
            <a:pPr indent="0" marL="0">
              <a:buNone/>
            </a:pPr>
            <a:r>
              <a:rPr lang="en-US" sz="2000" b="1" dirty="0">
                <a:solidFill>
                  <a:schemeClr val="tx1"/>
                </a:solidFill>
              </a:rPr>
              <a:t>They never feel connected</a:t>
            </a:r>
            <a:endParaRPr lang="en-US" sz="2000" dirty="0"/>
          </a:p>
        </p:txBody>
      </p:sp>
      <p:sp>
        <p:nvSpPr>
          <p:cNvPr id="7" name="problem body 1"/>
          <p:cNvSpPr txBox="1"/>
          <p:nvPr/>
        </p:nvSpPr>
        <p:spPr>
          <a:xfrm>
            <a:off x="868680" y="3200400"/>
            <a:ext cx="2880360" cy="1188720"/>
          </a:xfrm>
          <a:prstGeom prst="rect">
            <a:avLst/>
          </a:prstGeom>
          <a:noFill/>
          <a:ln/>
        </p:spPr>
        <p:txBody>
          <a:bodyPr wrap="square" lIns="0" tIns="0" rIns="0" bIns="0" rtlCol="0" anchor="t"/>
          <a:lstStyle/>
          <a:p>
            <a:pPr indent="0" marL="0">
              <a:buNone/>
            </a:pPr>
            <a:r>
              <a:rPr lang="en-US" sz="1500" dirty="0">
                <a:solidFill>
                  <a:srgbClr val="4A5A4F"/>
                </a:solidFill>
              </a:rPr>
              <a:t>A newcomer gets a house name and a group chat, not a story, a mascot or people to meet.</a:t>
            </a:r>
            <a:endParaRPr lang="en-US" sz="1500" dirty="0"/>
          </a:p>
        </p:txBody>
      </p:sp>
      <p:sp>
        <p:nvSpPr>
          <p:cNvPr id="8" name="problem card 2"/>
          <p:cNvSpPr/>
          <p:nvPr/>
        </p:nvSpPr>
        <p:spPr>
          <a:xfrm>
            <a:off x="4334256" y="1508760"/>
            <a:ext cx="3511296" cy="3063240"/>
          </a:xfrm>
          <a:prstGeom prst="roundRect">
            <a:avLst>
              <a:gd name="adj" fmla="val 537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9" name="problem 2 circle"/>
          <p:cNvSpPr/>
          <p:nvPr/>
        </p:nvSpPr>
        <p:spPr>
          <a:xfrm>
            <a:off x="4654296" y="1783080"/>
            <a:ext cx="731520" cy="731520"/>
          </a:xfrm>
          <a:prstGeom prst="ellipse">
            <a:avLst/>
          </a:prstGeom>
          <a:solidFill>
            <a:schemeClr val="accent5"/>
          </a:solidFill>
          <a:ln w="19050">
            <a:solidFill>
              <a:schemeClr val="bg1"/>
            </a:solidFill>
            <a:prstDash val="solid"/>
          </a:ln>
        </p:spPr>
      </p:sp>
      <p:pic>
        <p:nvPicPr>
          <p:cNvPr id="10" name="problem 2 icon" descr="preencoded.png">    </p:cNvPr>
          <p:cNvPicPr>
            <a:picLocks noChangeAspect="1"/>
          </p:cNvPicPr>
          <p:nvPr/>
        </p:nvPicPr>
        <p:blipFill>
          <a:blip r:embed="rId2"/>
          <a:stretch>
            <a:fillRect/>
          </a:stretch>
        </p:blipFill>
        <p:spPr>
          <a:xfrm>
            <a:off x="4829861" y="1958645"/>
            <a:ext cx="380390" cy="380390"/>
          </a:xfrm>
          <a:prstGeom prst="rect">
            <a:avLst/>
          </a:prstGeom>
        </p:spPr>
      </p:pic>
      <p:sp>
        <p:nvSpPr>
          <p:cNvPr id="11" name="problem title 2"/>
          <p:cNvSpPr txBox="1"/>
          <p:nvPr/>
        </p:nvSpPr>
        <p:spPr>
          <a:xfrm>
            <a:off x="4654296" y="2697480"/>
            <a:ext cx="2880360" cy="457200"/>
          </a:xfrm>
          <a:prstGeom prst="rect">
            <a:avLst/>
          </a:prstGeom>
          <a:noFill/>
          <a:ln/>
        </p:spPr>
        <p:txBody>
          <a:bodyPr wrap="square" lIns="0" tIns="0" rIns="0" bIns="0" rtlCol="0" anchor="t"/>
          <a:lstStyle/>
          <a:p>
            <a:pPr indent="0" marL="0">
              <a:buNone/>
            </a:pPr>
            <a:r>
              <a:rPr lang="en-US" sz="2000" b="1" dirty="0">
                <a:solidFill>
                  <a:schemeClr val="tx1"/>
                </a:solidFill>
              </a:rPr>
              <a:t>Their effort goes unseen</a:t>
            </a:r>
            <a:endParaRPr lang="en-US" sz="2000" dirty="0"/>
          </a:p>
        </p:txBody>
      </p:sp>
      <p:sp>
        <p:nvSpPr>
          <p:cNvPr id="12" name="problem body 2"/>
          <p:cNvSpPr txBox="1"/>
          <p:nvPr/>
        </p:nvSpPr>
        <p:spPr>
          <a:xfrm>
            <a:off x="4654296" y="3200400"/>
            <a:ext cx="2880360" cy="1188720"/>
          </a:xfrm>
          <a:prstGeom prst="rect">
            <a:avLst/>
          </a:prstGeom>
          <a:noFill/>
          <a:ln/>
        </p:spPr>
        <p:txBody>
          <a:bodyPr wrap="square" lIns="0" tIns="0" rIns="0" bIns="0" rtlCol="0" anchor="t"/>
          <a:lstStyle/>
          <a:p>
            <a:pPr indent="0" marL="0">
              <a:buNone/>
            </a:pPr>
            <a:r>
              <a:rPr lang="en-US" sz="1500" dirty="0">
                <a:solidFill>
                  <a:srgbClr val="4A5A4F"/>
                </a:solidFill>
              </a:rPr>
              <a:t>Turning up to a meetup, a quiz or a match leaves no trace that anyone else can see.</a:t>
            </a:r>
            <a:endParaRPr lang="en-US" sz="1500" dirty="0"/>
          </a:p>
        </p:txBody>
      </p:sp>
      <p:sp>
        <p:nvSpPr>
          <p:cNvPr id="13" name="problem card 3"/>
          <p:cNvSpPr/>
          <p:nvPr/>
        </p:nvSpPr>
        <p:spPr>
          <a:xfrm>
            <a:off x="8119872" y="1508760"/>
            <a:ext cx="3511296" cy="3063240"/>
          </a:xfrm>
          <a:prstGeom prst="roundRect">
            <a:avLst>
              <a:gd name="adj" fmla="val 537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4" name="problem 3 circle"/>
          <p:cNvSpPr/>
          <p:nvPr/>
        </p:nvSpPr>
        <p:spPr>
          <a:xfrm>
            <a:off x="8439912" y="1783080"/>
            <a:ext cx="731520" cy="731520"/>
          </a:xfrm>
          <a:prstGeom prst="ellipse">
            <a:avLst/>
          </a:prstGeom>
          <a:solidFill>
            <a:schemeClr val="accent5"/>
          </a:solidFill>
          <a:ln w="19050">
            <a:solidFill>
              <a:schemeClr val="bg1"/>
            </a:solidFill>
            <a:prstDash val="solid"/>
          </a:ln>
        </p:spPr>
      </p:sp>
      <p:pic>
        <p:nvPicPr>
          <p:cNvPr id="15" name="problem 3 icon" descr="preencoded.png">    </p:cNvPr>
          <p:cNvPicPr>
            <a:picLocks noChangeAspect="1"/>
          </p:cNvPicPr>
          <p:nvPr/>
        </p:nvPicPr>
        <p:blipFill>
          <a:blip r:embed="rId3"/>
          <a:stretch>
            <a:fillRect/>
          </a:stretch>
        </p:blipFill>
        <p:spPr>
          <a:xfrm>
            <a:off x="8615477" y="1958645"/>
            <a:ext cx="380390" cy="380390"/>
          </a:xfrm>
          <a:prstGeom prst="rect">
            <a:avLst/>
          </a:prstGeom>
        </p:spPr>
      </p:pic>
      <p:sp>
        <p:nvSpPr>
          <p:cNvPr id="16" name="problem title 3"/>
          <p:cNvSpPr txBox="1"/>
          <p:nvPr/>
        </p:nvSpPr>
        <p:spPr>
          <a:xfrm>
            <a:off x="8439912" y="2697480"/>
            <a:ext cx="2880360" cy="457200"/>
          </a:xfrm>
          <a:prstGeom prst="rect">
            <a:avLst/>
          </a:prstGeom>
          <a:noFill/>
          <a:ln/>
        </p:spPr>
        <p:txBody>
          <a:bodyPr wrap="square" lIns="0" tIns="0" rIns="0" bIns="0" rtlCol="0" anchor="t"/>
          <a:lstStyle/>
          <a:p>
            <a:pPr indent="0" marL="0">
              <a:buNone/>
            </a:pPr>
            <a:r>
              <a:rPr lang="en-US" sz="2000" b="1" dirty="0">
                <a:solidFill>
                  <a:schemeClr val="tx1"/>
                </a:solidFill>
              </a:rPr>
              <a:t>Points tables don't inspire</a:t>
            </a:r>
            <a:endParaRPr lang="en-US" sz="2000" dirty="0"/>
          </a:p>
        </p:txBody>
      </p:sp>
      <p:sp>
        <p:nvSpPr>
          <p:cNvPr id="17" name="problem body 3"/>
          <p:cNvSpPr txBox="1"/>
          <p:nvPr/>
        </p:nvSpPr>
        <p:spPr>
          <a:xfrm>
            <a:off x="8439912" y="3200400"/>
            <a:ext cx="2880360" cy="1188720"/>
          </a:xfrm>
          <a:prstGeom prst="rect">
            <a:avLst/>
          </a:prstGeom>
          <a:noFill/>
          <a:ln/>
        </p:spPr>
        <p:txBody>
          <a:bodyPr wrap="square" lIns="0" tIns="0" rIns="0" bIns="0" rtlCol="0" anchor="t"/>
          <a:lstStyle/>
          <a:p>
            <a:pPr indent="0" marL="0">
              <a:buNone/>
            </a:pPr>
            <a:r>
              <a:rPr lang="en-US" sz="1500" dirty="0">
                <a:solidFill>
                  <a:srgbClr val="4A5A4F"/>
                </a:solidFill>
              </a:rPr>
              <a:t>A spreadsheet of numbers doesn't make anyone feel part of something alive.</a:t>
            </a:r>
            <a:endParaRPr lang="en-US" sz="1500" dirty="0"/>
          </a:p>
        </p:txBody>
      </p:sp>
      <p:sp>
        <p:nvSpPr>
          <p:cNvPr id="18" name="brief card"/>
          <p:cNvSpPr/>
          <p:nvPr/>
        </p:nvSpPr>
        <p:spPr>
          <a:xfrm>
            <a:off x="548640" y="4846320"/>
            <a:ext cx="11082528" cy="1143000"/>
          </a:xfrm>
          <a:prstGeom prst="roundRect">
            <a:avLst>
              <a:gd name="adj" fmla="val 144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9" name="brief"/>
          <p:cNvSpPr txBox="1"/>
          <p:nvPr/>
        </p:nvSpPr>
        <p:spPr>
          <a:xfrm>
            <a:off x="868680" y="4983480"/>
            <a:ext cx="10424160" cy="868680"/>
          </a:xfrm>
          <a:prstGeom prst="rect">
            <a:avLst/>
          </a:prstGeom>
          <a:noFill/>
          <a:ln/>
        </p:spPr>
        <p:txBody>
          <a:bodyPr wrap="square" lIns="0" tIns="0" rIns="0" bIns="0" rtlCol="0" anchor="ctr"/>
          <a:lstStyle/>
          <a:p>
            <a:pPr indent="0" marL="0">
              <a:buNone/>
            </a:pPr>
            <a:r>
              <a:rPr lang="en-US" sz="1600" b="1" dirty="0">
                <a:solidFill>
                  <a:schemeClr val="accent1"/>
                </a:solidFill>
              </a:rPr>
              <a:t>The brief: </a:t>
            </a:r>
            <a:pPr indent="0" marL="0">
              <a:buNone/>
            </a:pPr>
            <a:r>
              <a:rPr lang="en-US" sz="1600" i="1" dirty="0">
                <a:solidFill>
                  <a:schemeClr val="tx1"/>
                </a:solidFill>
              </a:rPr>
              <a:t>a game-like website that welcomes newcomers, teaches them what their house stands for, and rewards taking part through quests, badges and a profile across Tech, Sports and Culture.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Every house becomes a living national park</a:t>
            </a:r>
            <a:endParaRPr lang="en-US" sz="3400" dirty="0"/>
          </a:p>
        </p:txBody>
      </p:sp>
      <p:sp>
        <p:nvSpPr>
          <p:cNvPr id="3" name="answer 1 circle"/>
          <p:cNvSpPr/>
          <p:nvPr/>
        </p:nvSpPr>
        <p:spPr>
          <a:xfrm>
            <a:off x="548640" y="1508760"/>
            <a:ext cx="640080" cy="640080"/>
          </a:xfrm>
          <a:prstGeom prst="ellipse">
            <a:avLst/>
          </a:prstGeom>
          <a:solidFill>
            <a:schemeClr val="accent1"/>
          </a:solidFill>
          <a:ln w="19050">
            <a:solidFill>
              <a:schemeClr val="bg1"/>
            </a:solidFill>
            <a:prstDash val="solid"/>
          </a:ln>
        </p:spPr>
      </p:sp>
      <p:pic>
        <p:nvPicPr>
          <p:cNvPr id="4" name="answer 1 icon" descr="preencoded.png">    </p:cNvPr>
          <p:cNvPicPr>
            <a:picLocks noChangeAspect="1"/>
          </p:cNvPicPr>
          <p:nvPr/>
        </p:nvPicPr>
        <p:blipFill>
          <a:blip r:embed="rId1"/>
          <a:stretch>
            <a:fillRect/>
          </a:stretch>
        </p:blipFill>
        <p:spPr>
          <a:xfrm>
            <a:off x="702259" y="1662379"/>
            <a:ext cx="332842" cy="332842"/>
          </a:xfrm>
          <a:prstGeom prst="rect">
            <a:avLst/>
          </a:prstGeom>
        </p:spPr>
      </p:pic>
      <p:sp>
        <p:nvSpPr>
          <p:cNvPr id="5" name="answer title 1"/>
          <p:cNvSpPr txBox="1"/>
          <p:nvPr/>
        </p:nvSpPr>
        <p:spPr>
          <a:xfrm>
            <a:off x="1371600" y="1490472"/>
            <a:ext cx="4297680" cy="365760"/>
          </a:xfrm>
          <a:prstGeom prst="rect">
            <a:avLst/>
          </a:prstGeom>
          <a:noFill/>
          <a:ln/>
        </p:spPr>
        <p:txBody>
          <a:bodyPr wrap="square" lIns="0" tIns="0" rIns="0" bIns="0" rtlCol="0" anchor="t"/>
          <a:lstStyle/>
          <a:p>
            <a:pPr indent="0" marL="0">
              <a:buNone/>
            </a:pPr>
            <a:r>
              <a:rPr lang="en-US" sz="1800" b="1" dirty="0">
                <a:solidFill>
                  <a:schemeClr val="tx1"/>
                </a:solidFill>
              </a:rPr>
              <a:t>A new house starts as bare land</a:t>
            </a:r>
            <a:endParaRPr lang="en-US" sz="1800" dirty="0"/>
          </a:p>
        </p:txBody>
      </p:sp>
      <p:sp>
        <p:nvSpPr>
          <p:cNvPr id="6" name="answer body 1"/>
          <p:cNvSpPr txBox="1"/>
          <p:nvPr/>
        </p:nvSpPr>
        <p:spPr>
          <a:xfrm>
            <a:off x="1371600" y="1856232"/>
            <a:ext cx="4297680" cy="548640"/>
          </a:xfrm>
          <a:prstGeom prst="rect">
            <a:avLst/>
          </a:prstGeom>
          <a:noFill/>
          <a:ln/>
        </p:spPr>
        <p:txBody>
          <a:bodyPr wrap="square" lIns="0" tIns="0" rIns="0" bIns="0" rtlCol="0" anchor="t"/>
          <a:lstStyle/>
          <a:p>
            <a:pPr indent="0" marL="0">
              <a:buNone/>
            </a:pPr>
            <a:r>
              <a:rPr lang="en-US" sz="1500" dirty="0">
                <a:solidFill>
                  <a:srgbClr val="4A5A4F"/>
                </a:solidFill>
              </a:rPr>
              <a:t>Each forest is named after the house's real Indian national park.</a:t>
            </a:r>
            <a:endParaRPr lang="en-US" sz="1500" dirty="0"/>
          </a:p>
        </p:txBody>
      </p:sp>
      <p:sp>
        <p:nvSpPr>
          <p:cNvPr id="7" name="answer 2 circle"/>
          <p:cNvSpPr/>
          <p:nvPr/>
        </p:nvSpPr>
        <p:spPr>
          <a:xfrm>
            <a:off x="548640" y="2532888"/>
            <a:ext cx="640080" cy="640080"/>
          </a:xfrm>
          <a:prstGeom prst="ellipse">
            <a:avLst/>
          </a:prstGeom>
          <a:solidFill>
            <a:schemeClr val="accent1"/>
          </a:solidFill>
          <a:ln w="19050">
            <a:solidFill>
              <a:schemeClr val="bg1"/>
            </a:solidFill>
            <a:prstDash val="solid"/>
          </a:ln>
        </p:spPr>
      </p:sp>
      <p:pic>
        <p:nvPicPr>
          <p:cNvPr id="8" name="answer 2 icon" descr="preencoded.png">    </p:cNvPr>
          <p:cNvPicPr>
            <a:picLocks noChangeAspect="1"/>
          </p:cNvPicPr>
          <p:nvPr/>
        </p:nvPicPr>
        <p:blipFill>
          <a:blip r:embed="rId2"/>
          <a:stretch>
            <a:fillRect/>
          </a:stretch>
        </p:blipFill>
        <p:spPr>
          <a:xfrm>
            <a:off x="702259" y="2686507"/>
            <a:ext cx="332842" cy="332842"/>
          </a:xfrm>
          <a:prstGeom prst="rect">
            <a:avLst/>
          </a:prstGeom>
        </p:spPr>
      </p:pic>
      <p:sp>
        <p:nvSpPr>
          <p:cNvPr id="9" name="answer title 2"/>
          <p:cNvSpPr txBox="1"/>
          <p:nvPr/>
        </p:nvSpPr>
        <p:spPr>
          <a:xfrm>
            <a:off x="1371600" y="2514600"/>
            <a:ext cx="4297680" cy="365760"/>
          </a:xfrm>
          <a:prstGeom prst="rect">
            <a:avLst/>
          </a:prstGeom>
          <a:noFill/>
          <a:ln/>
        </p:spPr>
        <p:txBody>
          <a:bodyPr wrap="square" lIns="0" tIns="0" rIns="0" bIns="0" rtlCol="0" anchor="t"/>
          <a:lstStyle/>
          <a:p>
            <a:pPr indent="0" marL="0">
              <a:buNone/>
            </a:pPr>
            <a:r>
              <a:rPr lang="en-US" sz="1800" b="1" dirty="0">
                <a:solidFill>
                  <a:schemeClr val="tx1"/>
                </a:solidFill>
              </a:rPr>
              <a:t>Every approved quest plants something</a:t>
            </a:r>
            <a:endParaRPr lang="en-US" sz="1800" dirty="0"/>
          </a:p>
        </p:txBody>
      </p:sp>
      <p:sp>
        <p:nvSpPr>
          <p:cNvPr id="10" name="answer body 2"/>
          <p:cNvSpPr txBox="1"/>
          <p:nvPr/>
        </p:nvSpPr>
        <p:spPr>
          <a:xfrm>
            <a:off x="1371600" y="2880360"/>
            <a:ext cx="4297680" cy="548640"/>
          </a:xfrm>
          <a:prstGeom prst="rect">
            <a:avLst/>
          </a:prstGeom>
          <a:noFill/>
          <a:ln/>
        </p:spPr>
        <p:txBody>
          <a:bodyPr wrap="square" lIns="0" tIns="0" rIns="0" bIns="0" rtlCol="0" anchor="t"/>
          <a:lstStyle/>
          <a:p>
            <a:pPr indent="0" marL="0">
              <a:buNone/>
            </a:pPr>
            <a:r>
              <a:rPr lang="en-US" sz="1500" dirty="0">
                <a:solidFill>
                  <a:srgbClr val="4A5A4F"/>
                </a:solidFill>
              </a:rPr>
              <a:t>A tree, a bush or a flower appears on the house map.</a:t>
            </a:r>
            <a:endParaRPr lang="en-US" sz="1500" dirty="0"/>
          </a:p>
        </p:txBody>
      </p:sp>
      <p:sp>
        <p:nvSpPr>
          <p:cNvPr id="11" name="answer 3 circle"/>
          <p:cNvSpPr/>
          <p:nvPr/>
        </p:nvSpPr>
        <p:spPr>
          <a:xfrm>
            <a:off x="548640" y="3557016"/>
            <a:ext cx="640080" cy="640080"/>
          </a:xfrm>
          <a:prstGeom prst="ellipse">
            <a:avLst/>
          </a:prstGeom>
          <a:solidFill>
            <a:schemeClr val="accent1"/>
          </a:solidFill>
          <a:ln w="19050">
            <a:solidFill>
              <a:schemeClr val="bg1"/>
            </a:solidFill>
            <a:prstDash val="solid"/>
          </a:ln>
        </p:spPr>
      </p:sp>
      <p:pic>
        <p:nvPicPr>
          <p:cNvPr id="12" name="answer 3 icon" descr="preencoded.png">    </p:cNvPr>
          <p:cNvPicPr>
            <a:picLocks noChangeAspect="1"/>
          </p:cNvPicPr>
          <p:nvPr/>
        </p:nvPicPr>
        <p:blipFill>
          <a:blip r:embed="rId3"/>
          <a:stretch>
            <a:fillRect/>
          </a:stretch>
        </p:blipFill>
        <p:spPr>
          <a:xfrm>
            <a:off x="702259" y="3710635"/>
            <a:ext cx="332842" cy="332842"/>
          </a:xfrm>
          <a:prstGeom prst="rect">
            <a:avLst/>
          </a:prstGeom>
        </p:spPr>
      </p:pic>
      <p:sp>
        <p:nvSpPr>
          <p:cNvPr id="13" name="answer title 3"/>
          <p:cNvSpPr txBox="1"/>
          <p:nvPr/>
        </p:nvSpPr>
        <p:spPr>
          <a:xfrm>
            <a:off x="1371600" y="3538728"/>
            <a:ext cx="4297680" cy="365760"/>
          </a:xfrm>
          <a:prstGeom prst="rect">
            <a:avLst/>
          </a:prstGeom>
          <a:noFill/>
          <a:ln/>
        </p:spPr>
        <p:txBody>
          <a:bodyPr wrap="square" lIns="0" tIns="0" rIns="0" bIns="0" rtlCol="0" anchor="t"/>
          <a:lstStyle/>
          <a:p>
            <a:pPr indent="0" marL="0">
              <a:buNone/>
            </a:pPr>
            <a:r>
              <a:rPr lang="en-US" sz="1800" b="1" dirty="0">
                <a:solidFill>
                  <a:schemeClr val="tx1"/>
                </a:solidFill>
              </a:rPr>
              <a:t>Every plant carries a name tag</a:t>
            </a:r>
            <a:endParaRPr lang="en-US" sz="1800" dirty="0"/>
          </a:p>
        </p:txBody>
      </p:sp>
      <p:sp>
        <p:nvSpPr>
          <p:cNvPr id="14" name="answer body 3"/>
          <p:cNvSpPr txBox="1"/>
          <p:nvPr/>
        </p:nvSpPr>
        <p:spPr>
          <a:xfrm>
            <a:off x="1371600" y="3904488"/>
            <a:ext cx="4297680" cy="548640"/>
          </a:xfrm>
          <a:prstGeom prst="rect">
            <a:avLst/>
          </a:prstGeom>
          <a:noFill/>
          <a:ln/>
        </p:spPr>
        <p:txBody>
          <a:bodyPr wrap="square" lIns="0" tIns="0" rIns="0" bIns="0" rtlCol="0" anchor="t"/>
          <a:lstStyle/>
          <a:p>
            <a:pPr indent="0" marL="0">
              <a:buNone/>
            </a:pPr>
            <a:r>
              <a:rPr lang="en-US" sz="1500" dirty="0">
                <a:solidFill>
                  <a:srgbClr val="4A5A4F"/>
                </a:solidFill>
              </a:rPr>
              <a:t>Tap it to see who planted it, and for which quest.</a:t>
            </a:r>
            <a:endParaRPr lang="en-US" sz="1500" dirty="0"/>
          </a:p>
        </p:txBody>
      </p:sp>
      <p:sp>
        <p:nvSpPr>
          <p:cNvPr id="15" name="answer 4 circle"/>
          <p:cNvSpPr/>
          <p:nvPr/>
        </p:nvSpPr>
        <p:spPr>
          <a:xfrm>
            <a:off x="548640" y="4581144"/>
            <a:ext cx="640080" cy="640080"/>
          </a:xfrm>
          <a:prstGeom prst="ellipse">
            <a:avLst/>
          </a:prstGeom>
          <a:solidFill>
            <a:schemeClr val="accent1"/>
          </a:solidFill>
          <a:ln w="19050">
            <a:solidFill>
              <a:schemeClr val="bg1"/>
            </a:solidFill>
            <a:prstDash val="solid"/>
          </a:ln>
        </p:spPr>
      </p:sp>
      <p:pic>
        <p:nvPicPr>
          <p:cNvPr id="16" name="answer 4 icon" descr="preencoded.png">    </p:cNvPr>
          <p:cNvPicPr>
            <a:picLocks noChangeAspect="1"/>
          </p:cNvPicPr>
          <p:nvPr/>
        </p:nvPicPr>
        <p:blipFill>
          <a:blip r:embed="rId4"/>
          <a:stretch>
            <a:fillRect/>
          </a:stretch>
        </p:blipFill>
        <p:spPr>
          <a:xfrm>
            <a:off x="702259" y="4734763"/>
            <a:ext cx="332842" cy="332842"/>
          </a:xfrm>
          <a:prstGeom prst="rect">
            <a:avLst/>
          </a:prstGeom>
        </p:spPr>
      </p:pic>
      <p:sp>
        <p:nvSpPr>
          <p:cNvPr id="17" name="answer title 4"/>
          <p:cNvSpPr txBox="1"/>
          <p:nvPr/>
        </p:nvSpPr>
        <p:spPr>
          <a:xfrm>
            <a:off x="1371600" y="4562856"/>
            <a:ext cx="4297680" cy="365760"/>
          </a:xfrm>
          <a:prstGeom prst="rect">
            <a:avLst/>
          </a:prstGeom>
          <a:noFill/>
          <a:ln/>
        </p:spPr>
        <p:txBody>
          <a:bodyPr wrap="square" lIns="0" tIns="0" rIns="0" bIns="0" rtlCol="0" anchor="t"/>
          <a:lstStyle/>
          <a:p>
            <a:pPr indent="0" marL="0">
              <a:buNone/>
            </a:pPr>
            <a:r>
              <a:rPr lang="en-US" sz="1800" b="1" dirty="0">
                <a:solidFill>
                  <a:schemeClr val="tx1"/>
                </a:solidFill>
              </a:rPr>
              <a:t>Enough Seeds bring back a legend</a:t>
            </a:r>
            <a:endParaRPr lang="en-US" sz="1800" dirty="0"/>
          </a:p>
        </p:txBody>
      </p:sp>
      <p:sp>
        <p:nvSpPr>
          <p:cNvPr id="18" name="answer body 4"/>
          <p:cNvSpPr txBox="1"/>
          <p:nvPr/>
        </p:nvSpPr>
        <p:spPr>
          <a:xfrm>
            <a:off x="1371600" y="4928616"/>
            <a:ext cx="4297680" cy="548640"/>
          </a:xfrm>
          <a:prstGeom prst="rect">
            <a:avLst/>
          </a:prstGeom>
          <a:noFill/>
          <a:ln/>
        </p:spPr>
        <p:txBody>
          <a:bodyPr wrap="square" lIns="0" tIns="0" rIns="0" bIns="0" rtlCol="0" anchor="t"/>
          <a:lstStyle/>
          <a:p>
            <a:pPr indent="0" marL="0">
              <a:buNone/>
            </a:pPr>
            <a:r>
              <a:rPr lang="en-US" sz="1500" dirty="0">
                <a:solidFill>
                  <a:srgbClr val="4A5A4F"/>
                </a:solidFill>
              </a:rPr>
              <a:t>Elephants for Saranda, lions for Gir, rhinos for Kaziranga.</a:t>
            </a:r>
            <a:endParaRPr lang="en-US" sz="1500" dirty="0"/>
          </a:p>
        </p:txBody>
      </p:sp>
      <p:sp>
        <p:nvSpPr>
          <p:cNvPr id="19" name="Kaziranga forest frame"/>
          <p:cNvSpPr/>
          <p:nvPr/>
        </p:nvSpPr>
        <p:spPr>
          <a:xfrm>
            <a:off x="6099048" y="1481328"/>
            <a:ext cx="5586984" cy="2862072"/>
          </a:xfrm>
          <a:prstGeom prst="roundRect">
            <a:avLst>
              <a:gd name="adj" fmla="val 575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20" name="Kaziranga forest" descr="The Kaziranga forest at the Forest stage, with elephant grass, wetlands and planted trees">    </p:cNvPr>
          <p:cNvPicPr>
            <a:picLocks noChangeAspect="1"/>
          </p:cNvPicPr>
          <p:nvPr/>
        </p:nvPicPr>
        <p:blipFill>
          <a:blip r:embed="rId5"/>
          <a:srcRect l="0" r="0" t="0" b="0"/>
          <a:stretch/>
        </p:blipFill>
        <p:spPr>
          <a:xfrm>
            <a:off x="6172200" y="1554480"/>
            <a:ext cx="5440680" cy="2715768"/>
          </a:xfrm>
          <a:prstGeom prst="rect">
            <a:avLst/>
          </a:prstGeom>
        </p:spPr>
      </p:pic>
      <p:sp>
        <p:nvSpPr>
          <p:cNvPr id="21" name="pitch card"/>
          <p:cNvSpPr/>
          <p:nvPr/>
        </p:nvSpPr>
        <p:spPr>
          <a:xfrm>
            <a:off x="6099048" y="4572000"/>
            <a:ext cx="5586984" cy="1417320"/>
          </a:xfrm>
          <a:prstGeom prst="roundRect">
            <a:avLst>
              <a:gd name="adj" fmla="val 1161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2" name="pitch"/>
          <p:cNvSpPr txBox="1"/>
          <p:nvPr/>
        </p:nvSpPr>
        <p:spPr>
          <a:xfrm>
            <a:off x="6355080" y="4709160"/>
            <a:ext cx="5074920" cy="1143000"/>
          </a:xfrm>
          <a:prstGeom prst="rect">
            <a:avLst/>
          </a:prstGeom>
          <a:noFill/>
          <a:ln/>
        </p:spPr>
        <p:txBody>
          <a:bodyPr wrap="square" lIns="0" tIns="0" rIns="0" bIns="0" rtlCol="0" anchor="ctr"/>
          <a:lstStyle/>
          <a:p>
            <a:pPr indent="0" marL="0">
              <a:buNone/>
            </a:pPr>
            <a:r>
              <a:rPr lang="en-US" sz="1500" i="1" dirty="0">
                <a:solidFill>
                  <a:schemeClr val="tx2"/>
                </a:solidFill>
              </a:rPr>
              <a:t>“Wildlands turns every house into a living national park that grows as its members take part, so newcomers feel welcomed, contributions are seen, and organisers get a simple dashboard to run it all.”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Four building blocks, one connected game</a:t>
            </a:r>
            <a:endParaRPr lang="en-US" sz="3400" dirty="0"/>
          </a:p>
        </p:txBody>
      </p:sp>
      <p:sp>
        <p:nvSpPr>
          <p:cNvPr id="3" name="block card 1"/>
          <p:cNvSpPr/>
          <p:nvPr/>
        </p:nvSpPr>
        <p:spPr>
          <a:xfrm>
            <a:off x="548640" y="1508760"/>
            <a:ext cx="2578608" cy="448056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block 1 circle"/>
          <p:cNvSpPr/>
          <p:nvPr/>
        </p:nvSpPr>
        <p:spPr>
          <a:xfrm>
            <a:off x="822960" y="1783080"/>
            <a:ext cx="777240" cy="777240"/>
          </a:xfrm>
          <a:prstGeom prst="ellipse">
            <a:avLst/>
          </a:prstGeom>
          <a:solidFill>
            <a:schemeClr val="accent3"/>
          </a:solidFill>
          <a:ln w="19050">
            <a:solidFill>
              <a:schemeClr val="bg1"/>
            </a:solidFill>
            <a:prstDash val="solid"/>
          </a:ln>
        </p:spPr>
      </p:sp>
      <p:pic>
        <p:nvPicPr>
          <p:cNvPr id="5" name="block 1 icon" descr="preencoded.png">    </p:cNvPr>
          <p:cNvPicPr>
            <a:picLocks noChangeAspect="1"/>
          </p:cNvPicPr>
          <p:nvPr/>
        </p:nvPicPr>
        <p:blipFill>
          <a:blip r:embed="rId1"/>
          <a:stretch>
            <a:fillRect/>
          </a:stretch>
        </p:blipFill>
        <p:spPr>
          <a:xfrm>
            <a:off x="1009498" y="1969618"/>
            <a:ext cx="404165" cy="404165"/>
          </a:xfrm>
          <a:prstGeom prst="rect">
            <a:avLst/>
          </a:prstGeom>
        </p:spPr>
      </p:pic>
      <p:sp>
        <p:nvSpPr>
          <p:cNvPr id="6" name="block title 1"/>
          <p:cNvSpPr txBox="1"/>
          <p:nvPr/>
        </p:nvSpPr>
        <p:spPr>
          <a:xfrm>
            <a:off x="822960" y="2743200"/>
            <a:ext cx="2103120" cy="411480"/>
          </a:xfrm>
          <a:prstGeom prst="rect">
            <a:avLst/>
          </a:prstGeom>
          <a:noFill/>
          <a:ln/>
        </p:spPr>
        <p:txBody>
          <a:bodyPr wrap="square" lIns="0" tIns="0" rIns="0" bIns="0" rtlCol="0" anchor="t"/>
          <a:lstStyle/>
          <a:p>
            <a:pPr indent="0" marL="0">
              <a:buNone/>
            </a:pPr>
            <a:r>
              <a:rPr lang="en-US" sz="2000" b="1" dirty="0">
                <a:solidFill>
                  <a:schemeClr val="tx1"/>
                </a:solidFill>
              </a:rPr>
              <a:t>Ranger Onboarding</a:t>
            </a:r>
            <a:endParaRPr lang="en-US" sz="2000" dirty="0"/>
          </a:p>
        </p:txBody>
      </p:sp>
      <p:sp>
        <p:nvSpPr>
          <p:cNvPr id="7" name="block body 1"/>
          <p:cNvSpPr txBox="1"/>
          <p:nvPr/>
        </p:nvSpPr>
        <p:spPr>
          <a:xfrm>
            <a:off x="822960" y="3200400"/>
            <a:ext cx="2103120" cy="1828800"/>
          </a:xfrm>
          <a:prstGeom prst="rect">
            <a:avLst/>
          </a:prstGeom>
          <a:noFill/>
          <a:ln/>
        </p:spPr>
        <p:txBody>
          <a:bodyPr wrap="square" lIns="0" tIns="0" rIns="0" bIns="0" rtlCol="0" anchor="t"/>
          <a:lstStyle/>
          <a:p>
            <a:pPr indent="0" marL="0">
              <a:buNone/>
            </a:pPr>
            <a:r>
              <a:rPr lang="en-US" sz="1500" dirty="0">
                <a:solidFill>
                  <a:srgbClr val="4A5A4F"/>
                </a:solidFill>
              </a:rPr>
              <a:t>Story cards: welcome, mascot, values and leaders, then a 5-question trivia quiz. Finishing plants your first seed.</a:t>
            </a:r>
            <a:endParaRPr lang="en-US" sz="1500" dirty="0"/>
          </a:p>
        </p:txBody>
      </p:sp>
      <p:sp>
        <p:nvSpPr>
          <p:cNvPr id="8" name="block brief 1"/>
          <p:cNvSpPr txBox="1"/>
          <p:nvPr/>
        </p:nvSpPr>
        <p:spPr>
          <a:xfrm>
            <a:off x="822960" y="5166360"/>
            <a:ext cx="2103120" cy="640080"/>
          </a:xfrm>
          <a:prstGeom prst="rect">
            <a:avLst/>
          </a:prstGeom>
          <a:noFill/>
          <a:ln/>
        </p:spPr>
        <p:txBody>
          <a:bodyPr wrap="square" lIns="0" tIns="0" rIns="0" bIns="0" rtlCol="0" anchor="t"/>
          <a:lstStyle/>
          <a:p>
            <a:pPr indent="0" marL="0">
              <a:buNone/>
            </a:pPr>
            <a:r>
              <a:rPr lang="en-US" sz="1200" b="1" dirty="0">
                <a:solidFill>
                  <a:schemeClr val="accent1"/>
                </a:solidFill>
              </a:rPr>
              <a:t>Brief: </a:t>
            </a:r>
            <a:pPr indent="0" marL="0">
              <a:buNone/>
            </a:pPr>
            <a:r>
              <a:rPr lang="en-US" sz="1200" dirty="0">
                <a:solidFill>
                  <a:schemeClr val="accent1"/>
                </a:solidFill>
              </a:rPr>
              <a:t>Interactive House Lore &amp; Trivia</a:t>
            </a:r>
            <a:endParaRPr lang="en-US" sz="1200" dirty="0"/>
          </a:p>
        </p:txBody>
      </p:sp>
      <p:sp>
        <p:nvSpPr>
          <p:cNvPr id="9" name="block card 2"/>
          <p:cNvSpPr/>
          <p:nvPr/>
        </p:nvSpPr>
        <p:spPr>
          <a:xfrm>
            <a:off x="3383280" y="1508760"/>
            <a:ext cx="2578608" cy="448056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0" name="block 2 circle"/>
          <p:cNvSpPr/>
          <p:nvPr/>
        </p:nvSpPr>
        <p:spPr>
          <a:xfrm>
            <a:off x="3657600" y="1783080"/>
            <a:ext cx="777240" cy="777240"/>
          </a:xfrm>
          <a:prstGeom prst="ellipse">
            <a:avLst/>
          </a:prstGeom>
          <a:solidFill>
            <a:schemeClr val="accent4"/>
          </a:solidFill>
          <a:ln w="19050">
            <a:solidFill>
              <a:schemeClr val="bg1"/>
            </a:solidFill>
            <a:prstDash val="solid"/>
          </a:ln>
        </p:spPr>
      </p:sp>
      <p:pic>
        <p:nvPicPr>
          <p:cNvPr id="11" name="block 2 icon" descr="preencoded.png">    </p:cNvPr>
          <p:cNvPicPr>
            <a:picLocks noChangeAspect="1"/>
          </p:cNvPicPr>
          <p:nvPr/>
        </p:nvPicPr>
        <p:blipFill>
          <a:blip r:embed="rId2"/>
          <a:stretch>
            <a:fillRect/>
          </a:stretch>
        </p:blipFill>
        <p:spPr>
          <a:xfrm>
            <a:off x="3844138" y="1969618"/>
            <a:ext cx="404165" cy="404165"/>
          </a:xfrm>
          <a:prstGeom prst="rect">
            <a:avLst/>
          </a:prstGeom>
        </p:spPr>
      </p:pic>
      <p:sp>
        <p:nvSpPr>
          <p:cNvPr id="12" name="block title 2"/>
          <p:cNvSpPr txBox="1"/>
          <p:nvPr/>
        </p:nvSpPr>
        <p:spPr>
          <a:xfrm>
            <a:off x="3657600" y="2743200"/>
            <a:ext cx="2103120" cy="411480"/>
          </a:xfrm>
          <a:prstGeom prst="rect">
            <a:avLst/>
          </a:prstGeom>
          <a:noFill/>
          <a:ln/>
        </p:spPr>
        <p:txBody>
          <a:bodyPr wrap="square" lIns="0" tIns="0" rIns="0" bIns="0" rtlCol="0" anchor="t"/>
          <a:lstStyle/>
          <a:p>
            <a:pPr indent="0" marL="0">
              <a:buNone/>
            </a:pPr>
            <a:r>
              <a:rPr lang="en-US" sz="2000" b="1" dirty="0">
                <a:solidFill>
                  <a:schemeClr val="tx1"/>
                </a:solidFill>
              </a:rPr>
              <a:t>Questboard</a:t>
            </a:r>
            <a:endParaRPr lang="en-US" sz="2000" dirty="0"/>
          </a:p>
        </p:txBody>
      </p:sp>
      <p:sp>
        <p:nvSpPr>
          <p:cNvPr id="13" name="block body 2"/>
          <p:cNvSpPr txBox="1"/>
          <p:nvPr/>
        </p:nvSpPr>
        <p:spPr>
          <a:xfrm>
            <a:off x="3657600" y="3200400"/>
            <a:ext cx="2103120" cy="1828800"/>
          </a:xfrm>
          <a:prstGeom prst="rect">
            <a:avLst/>
          </a:prstGeom>
          <a:noFill/>
          <a:ln/>
        </p:spPr>
        <p:txBody>
          <a:bodyPr wrap="square" lIns="0" tIns="0" rIns="0" bIns="0" rtlCol="0" anchor="t"/>
          <a:lstStyle/>
          <a:p>
            <a:pPr indent="0" marL="0">
              <a:buNone/>
            </a:pPr>
            <a:r>
              <a:rPr lang="en-US" sz="1500" dirty="0">
                <a:solidFill>
                  <a:srgbClr val="4A5A4F"/>
                </a:solidFill>
              </a:rPr>
              <a:t>Weekly Tech, Sports and Culture quests with Seeds rewards. Submit a photo, link or note as proof.</a:t>
            </a:r>
            <a:endParaRPr lang="en-US" sz="1500" dirty="0"/>
          </a:p>
        </p:txBody>
      </p:sp>
      <p:sp>
        <p:nvSpPr>
          <p:cNvPr id="14" name="block brief 2"/>
          <p:cNvSpPr txBox="1"/>
          <p:nvPr/>
        </p:nvSpPr>
        <p:spPr>
          <a:xfrm>
            <a:off x="3657600" y="5166360"/>
            <a:ext cx="2103120" cy="640080"/>
          </a:xfrm>
          <a:prstGeom prst="rect">
            <a:avLst/>
          </a:prstGeom>
          <a:noFill/>
          <a:ln/>
        </p:spPr>
        <p:txBody>
          <a:bodyPr wrap="square" lIns="0" tIns="0" rIns="0" bIns="0" rtlCol="0" anchor="t"/>
          <a:lstStyle/>
          <a:p>
            <a:pPr indent="0" marL="0">
              <a:buNone/>
            </a:pPr>
            <a:r>
              <a:rPr lang="en-US" sz="1200" b="1" dirty="0">
                <a:solidFill>
                  <a:schemeClr val="accent1"/>
                </a:solidFill>
              </a:rPr>
              <a:t>Brief: </a:t>
            </a:r>
            <a:pPr indent="0" marL="0">
              <a:buNone/>
            </a:pPr>
            <a:r>
              <a:rPr lang="en-US" sz="1200" dirty="0">
                <a:solidFill>
                  <a:schemeClr val="accent1"/>
                </a:solidFill>
              </a:rPr>
              <a:t>House Questboard</a:t>
            </a:r>
            <a:endParaRPr lang="en-US" sz="1200" dirty="0"/>
          </a:p>
        </p:txBody>
      </p:sp>
      <p:sp>
        <p:nvSpPr>
          <p:cNvPr id="15" name="block card 3"/>
          <p:cNvSpPr/>
          <p:nvPr/>
        </p:nvSpPr>
        <p:spPr>
          <a:xfrm>
            <a:off x="6217920" y="1508760"/>
            <a:ext cx="2578608" cy="448056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6" name="block 3 circle"/>
          <p:cNvSpPr/>
          <p:nvPr/>
        </p:nvSpPr>
        <p:spPr>
          <a:xfrm>
            <a:off x="6492240" y="1783080"/>
            <a:ext cx="777240" cy="777240"/>
          </a:xfrm>
          <a:prstGeom prst="ellipse">
            <a:avLst/>
          </a:prstGeom>
          <a:solidFill>
            <a:schemeClr val="accent1"/>
          </a:solidFill>
          <a:ln w="19050">
            <a:solidFill>
              <a:schemeClr val="bg1"/>
            </a:solidFill>
            <a:prstDash val="solid"/>
          </a:ln>
        </p:spPr>
      </p:sp>
      <p:pic>
        <p:nvPicPr>
          <p:cNvPr id="17" name="block 3 icon" descr="preencoded.png">    </p:cNvPr>
          <p:cNvPicPr>
            <a:picLocks noChangeAspect="1"/>
          </p:cNvPicPr>
          <p:nvPr/>
        </p:nvPicPr>
        <p:blipFill>
          <a:blip r:embed="rId3"/>
          <a:stretch>
            <a:fillRect/>
          </a:stretch>
        </p:blipFill>
        <p:spPr>
          <a:xfrm>
            <a:off x="6678778" y="1969618"/>
            <a:ext cx="404165" cy="404165"/>
          </a:xfrm>
          <a:prstGeom prst="rect">
            <a:avLst/>
          </a:prstGeom>
        </p:spPr>
      </p:pic>
      <p:sp>
        <p:nvSpPr>
          <p:cNvPr id="18" name="block title 3"/>
          <p:cNvSpPr txBox="1"/>
          <p:nvPr/>
        </p:nvSpPr>
        <p:spPr>
          <a:xfrm>
            <a:off x="6492240" y="2743200"/>
            <a:ext cx="2103120" cy="411480"/>
          </a:xfrm>
          <a:prstGeom prst="rect">
            <a:avLst/>
          </a:prstGeom>
          <a:noFill/>
          <a:ln/>
        </p:spPr>
        <p:txBody>
          <a:bodyPr wrap="square" lIns="0" tIns="0" rIns="0" bIns="0" rtlCol="0" anchor="t"/>
          <a:lstStyle/>
          <a:p>
            <a:pPr indent="0" marL="0">
              <a:buNone/>
            </a:pPr>
            <a:r>
              <a:rPr lang="en-US" sz="2000" b="1" dirty="0">
                <a:solidFill>
                  <a:schemeClr val="tx1"/>
                </a:solidFill>
              </a:rPr>
              <a:t>House Forest</a:t>
            </a:r>
            <a:endParaRPr lang="en-US" sz="2000" dirty="0"/>
          </a:p>
        </p:txBody>
      </p:sp>
      <p:sp>
        <p:nvSpPr>
          <p:cNvPr id="19" name="block body 3"/>
          <p:cNvSpPr txBox="1"/>
          <p:nvPr/>
        </p:nvSpPr>
        <p:spPr>
          <a:xfrm>
            <a:off x="6492240" y="3200400"/>
            <a:ext cx="2103120" cy="1828800"/>
          </a:xfrm>
          <a:prstGeom prst="rect">
            <a:avLst/>
          </a:prstGeom>
          <a:noFill/>
          <a:ln/>
        </p:spPr>
        <p:txBody>
          <a:bodyPr wrap="square" lIns="0" tIns="0" rIns="0" bIns="0" rtlCol="0" anchor="t"/>
          <a:lstStyle/>
          <a:p>
            <a:pPr indent="0" marL="0">
              <a:buNone/>
            </a:pPr>
            <a:r>
              <a:rPr lang="en-US" sz="1500" dirty="0">
                <a:solidFill>
                  <a:srgbClr val="4A5A4F"/>
                </a:solidFill>
              </a:rPr>
              <a:t>The living map that grows from real data with every approved quest. Tap any tree to see who planted it.</a:t>
            </a:r>
            <a:endParaRPr lang="en-US" sz="1500" dirty="0"/>
          </a:p>
        </p:txBody>
      </p:sp>
      <p:sp>
        <p:nvSpPr>
          <p:cNvPr id="20" name="block brief 3"/>
          <p:cNvSpPr txBox="1"/>
          <p:nvPr/>
        </p:nvSpPr>
        <p:spPr>
          <a:xfrm>
            <a:off x="6492240" y="5166360"/>
            <a:ext cx="2103120" cy="640080"/>
          </a:xfrm>
          <a:prstGeom prst="rect">
            <a:avLst/>
          </a:prstGeom>
          <a:noFill/>
          <a:ln/>
        </p:spPr>
        <p:txBody>
          <a:bodyPr wrap="square" lIns="0" tIns="0" rIns="0" bIns="0" rtlCol="0" anchor="t"/>
          <a:lstStyle/>
          <a:p>
            <a:pPr indent="0" marL="0">
              <a:buNone/>
            </a:pPr>
            <a:r>
              <a:rPr lang="en-US" sz="1200" b="1" dirty="0">
                <a:solidFill>
                  <a:schemeClr val="accent1"/>
                </a:solidFill>
              </a:rPr>
              <a:t>Brief: </a:t>
            </a:r>
            <a:pPr indent="0" marL="0">
              <a:buNone/>
            </a:pPr>
            <a:r>
              <a:rPr lang="en-US" sz="1200" dirty="0">
                <a:solidFill>
                  <a:schemeClr val="accent1"/>
                </a:solidFill>
              </a:rPr>
              <a:t>The 'wow' that ties it together</a:t>
            </a:r>
            <a:endParaRPr lang="en-US" sz="1200" dirty="0"/>
          </a:p>
        </p:txBody>
      </p:sp>
      <p:sp>
        <p:nvSpPr>
          <p:cNvPr id="21" name="block card 4"/>
          <p:cNvSpPr/>
          <p:nvPr/>
        </p:nvSpPr>
        <p:spPr>
          <a:xfrm>
            <a:off x="9052560" y="1508760"/>
            <a:ext cx="2578608" cy="448056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2" name="block 4 circle"/>
          <p:cNvSpPr/>
          <p:nvPr/>
        </p:nvSpPr>
        <p:spPr>
          <a:xfrm>
            <a:off x="9326880" y="1783080"/>
            <a:ext cx="777240" cy="777240"/>
          </a:xfrm>
          <a:prstGeom prst="ellipse">
            <a:avLst/>
          </a:prstGeom>
          <a:solidFill>
            <a:schemeClr val="accent6"/>
          </a:solidFill>
          <a:ln w="19050">
            <a:solidFill>
              <a:schemeClr val="bg1"/>
            </a:solidFill>
            <a:prstDash val="solid"/>
          </a:ln>
        </p:spPr>
      </p:sp>
      <p:pic>
        <p:nvPicPr>
          <p:cNvPr id="23" name="block 4 icon" descr="preencoded.png">    </p:cNvPr>
          <p:cNvPicPr>
            <a:picLocks noChangeAspect="1"/>
          </p:cNvPicPr>
          <p:nvPr/>
        </p:nvPicPr>
        <p:blipFill>
          <a:blip r:embed="rId4"/>
          <a:stretch>
            <a:fillRect/>
          </a:stretch>
        </p:blipFill>
        <p:spPr>
          <a:xfrm>
            <a:off x="9513418" y="1969618"/>
            <a:ext cx="404165" cy="404165"/>
          </a:xfrm>
          <a:prstGeom prst="rect">
            <a:avLst/>
          </a:prstGeom>
        </p:spPr>
      </p:pic>
      <p:sp>
        <p:nvSpPr>
          <p:cNvPr id="24" name="block title 4"/>
          <p:cNvSpPr txBox="1"/>
          <p:nvPr/>
        </p:nvSpPr>
        <p:spPr>
          <a:xfrm>
            <a:off x="9326880" y="2743200"/>
            <a:ext cx="2103120" cy="411480"/>
          </a:xfrm>
          <a:prstGeom prst="rect">
            <a:avLst/>
          </a:prstGeom>
          <a:noFill/>
          <a:ln/>
        </p:spPr>
        <p:txBody>
          <a:bodyPr wrap="square" lIns="0" tIns="0" rIns="0" bIns="0" rtlCol="0" anchor="t"/>
          <a:lstStyle/>
          <a:p>
            <a:pPr indent="0" marL="0">
              <a:buNone/>
            </a:pPr>
            <a:r>
              <a:rPr lang="en-US" sz="2000" b="1" dirty="0">
                <a:solidFill>
                  <a:schemeClr val="tx1"/>
                </a:solidFill>
              </a:rPr>
              <a:t>Habitat Card</a:t>
            </a:r>
            <a:endParaRPr lang="en-US" sz="2000" dirty="0"/>
          </a:p>
        </p:txBody>
      </p:sp>
      <p:sp>
        <p:nvSpPr>
          <p:cNvPr id="25" name="block body 4"/>
          <p:cNvSpPr txBox="1"/>
          <p:nvPr/>
        </p:nvSpPr>
        <p:spPr>
          <a:xfrm>
            <a:off x="9326880" y="3200400"/>
            <a:ext cx="2103120" cy="1828800"/>
          </a:xfrm>
          <a:prstGeom prst="rect">
            <a:avLst/>
          </a:prstGeom>
          <a:noFill/>
          <a:ln/>
        </p:spPr>
        <p:txBody>
          <a:bodyPr wrap="square" lIns="0" tIns="0" rIns="0" bIns="0" rtlCol="0" anchor="t"/>
          <a:lstStyle/>
          <a:p>
            <a:pPr indent="0" marL="0">
              <a:buNone/>
            </a:pPr>
            <a:r>
              <a:rPr lang="en-US" sz="1500" dirty="0">
                <a:solidFill>
                  <a:srgbClr val="4A5A4F"/>
                </a:solidFill>
              </a:rPr>
              <a:t>Each member's profile: rank title, badges, a Tech / Sports / Culture chart and a shareable link.</a:t>
            </a:r>
            <a:endParaRPr lang="en-US" sz="1500" dirty="0"/>
          </a:p>
        </p:txBody>
      </p:sp>
      <p:sp>
        <p:nvSpPr>
          <p:cNvPr id="26" name="block brief 4"/>
          <p:cNvSpPr txBox="1"/>
          <p:nvPr/>
        </p:nvSpPr>
        <p:spPr>
          <a:xfrm>
            <a:off x="9326880" y="5166360"/>
            <a:ext cx="2103120" cy="640080"/>
          </a:xfrm>
          <a:prstGeom prst="rect">
            <a:avLst/>
          </a:prstGeom>
          <a:noFill/>
          <a:ln/>
        </p:spPr>
        <p:txBody>
          <a:bodyPr wrap="square" lIns="0" tIns="0" rIns="0" bIns="0" rtlCol="0" anchor="t"/>
          <a:lstStyle/>
          <a:p>
            <a:pPr indent="0" marL="0">
              <a:buNone/>
            </a:pPr>
            <a:r>
              <a:rPr lang="en-US" sz="1200" b="1" dirty="0">
                <a:solidFill>
                  <a:schemeClr val="accent1"/>
                </a:solidFill>
              </a:rPr>
              <a:t>Brief: </a:t>
            </a:r>
            <a:pPr indent="0" marL="0">
              <a:buNone/>
            </a:pPr>
            <a:r>
              <a:rPr lang="en-US" sz="1200" dirty="0">
                <a:solidFill>
                  <a:schemeClr val="accent1"/>
                </a:solidFill>
              </a:rPr>
              <a:t>Member Portfolio &amp; Achievements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 newcomer's first two minutes</a:t>
            </a:r>
            <a:endParaRPr lang="en-US" sz="3400" dirty="0"/>
          </a:p>
        </p:txBody>
      </p:sp>
      <p:sp>
        <p:nvSpPr>
          <p:cNvPr id="3" name="journey screen 1 phone"/>
          <p:cNvSpPr/>
          <p:nvPr/>
        </p:nvSpPr>
        <p:spPr>
          <a:xfrm>
            <a:off x="603504" y="1380744"/>
            <a:ext cx="2213866" cy="4599432"/>
          </a:xfrm>
          <a:prstGeom prst="roundRect">
            <a:avLst>
              <a:gd name="adj" fmla="val 11565"/>
            </a:avLst>
          </a:prstGeom>
          <a:solidFill>
            <a:schemeClr val="tx1"/>
          </a:solidFill>
          <a:ln w="12700">
            <a:solidFill>
              <a:schemeClr val="tx1"/>
            </a:solidFill>
            <a:prstDash val="solid"/>
          </a:ln>
          <a:effectLst>
            <a:outerShdw sx="100000" sy="100000" kx="0" ky="0" algn="bl" rotWithShape="0" blurRad="203200" dist="76200" dir="5400000">
              <a:srgbClr val="0E341E">
                <a:alpha val="30000"/>
              </a:srgbClr>
            </a:outerShdw>
          </a:effectLst>
        </p:spPr>
      </p:sp>
      <p:pic>
        <p:nvPicPr>
          <p:cNvPr id="4" name="journey screen 1" descr="Onboarding story card welcoming a new member to Saranda">    </p:cNvPr>
          <p:cNvPicPr>
            <a:picLocks noChangeAspect="1"/>
          </p:cNvPicPr>
          <p:nvPr/>
        </p:nvPicPr>
        <p:blipFill>
          <a:blip r:embed="rId1"/>
          <a:stretch>
            <a:fillRect/>
          </a:stretch>
        </p:blipFill>
        <p:spPr>
          <a:xfrm>
            <a:off x="685800" y="1463040"/>
            <a:ext cx="2049274" cy="4434840"/>
          </a:xfrm>
          <a:prstGeom prst="rect">
            <a:avLst/>
          </a:prstGeom>
        </p:spPr>
      </p:pic>
      <p:sp>
        <p:nvSpPr>
          <p:cNvPr id="5" name="journey step 1"/>
          <p:cNvSpPr/>
          <p:nvPr/>
        </p:nvSpPr>
        <p:spPr>
          <a:xfrm>
            <a:off x="3055114" y="2103120"/>
            <a:ext cx="502920" cy="502920"/>
          </a:xfrm>
          <a:prstGeom prst="ellipse">
            <a:avLst/>
          </a:prstGeom>
          <a:solidFill>
            <a:schemeClr val="accent3"/>
          </a:solidFill>
          <a:ln w="19050">
            <a:solidFill>
              <a:schemeClr val="bg1"/>
            </a:solidFill>
            <a:prstDash val="solid"/>
          </a:ln>
        </p:spPr>
      </p:sp>
      <p:sp>
        <p:nvSpPr>
          <p:cNvPr id="6" name="journey number 1"/>
          <p:cNvSpPr txBox="1"/>
          <p:nvPr/>
        </p:nvSpPr>
        <p:spPr>
          <a:xfrm>
            <a:off x="3055114" y="2103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journey title 1"/>
          <p:cNvSpPr txBox="1"/>
          <p:nvPr/>
        </p:nvSpPr>
        <p:spPr>
          <a:xfrm>
            <a:off x="3055114" y="2788920"/>
            <a:ext cx="1371600" cy="685800"/>
          </a:xfrm>
          <a:prstGeom prst="rect">
            <a:avLst/>
          </a:prstGeom>
          <a:noFill/>
          <a:ln/>
        </p:spPr>
        <p:txBody>
          <a:bodyPr wrap="square" lIns="0" tIns="0" rIns="0" bIns="0" rtlCol="0" anchor="t"/>
          <a:lstStyle/>
          <a:p>
            <a:pPr indent="0" marL="0">
              <a:buNone/>
            </a:pPr>
            <a:r>
              <a:rPr lang="en-US" sz="1800" b="1" dirty="0">
                <a:solidFill>
                  <a:schemeClr val="tx1"/>
                </a:solidFill>
              </a:rPr>
              <a:t>Story cards</a:t>
            </a:r>
            <a:endParaRPr lang="en-US" sz="1800" dirty="0"/>
          </a:p>
        </p:txBody>
      </p:sp>
      <p:sp>
        <p:nvSpPr>
          <p:cNvPr id="8" name="journey body 1"/>
          <p:cNvSpPr txBox="1"/>
          <p:nvPr/>
        </p:nvSpPr>
        <p:spPr>
          <a:xfrm>
            <a:off x="3055114" y="3474720"/>
            <a:ext cx="1371600" cy="2194560"/>
          </a:xfrm>
          <a:prstGeom prst="rect">
            <a:avLst/>
          </a:prstGeom>
          <a:noFill/>
          <a:ln/>
        </p:spPr>
        <p:txBody>
          <a:bodyPr wrap="square" lIns="0" tIns="0" rIns="0" bIns="0" rtlCol="0" anchor="t"/>
          <a:lstStyle/>
          <a:p>
            <a:pPr indent="0" marL="0">
              <a:buNone/>
            </a:pPr>
            <a:r>
              <a:rPr lang="en-US" sz="1400" dirty="0">
                <a:solidFill>
                  <a:srgbClr val="4A5A4F"/>
                </a:solidFill>
              </a:rPr>
              <a:t>Swipe through the house's welcome, mascot, values and leaders.</a:t>
            </a:r>
            <a:endParaRPr lang="en-US" sz="1400" dirty="0"/>
          </a:p>
        </p:txBody>
      </p:sp>
      <p:sp>
        <p:nvSpPr>
          <p:cNvPr id="9" name="journey screen 2 phone"/>
          <p:cNvSpPr/>
          <p:nvPr/>
        </p:nvSpPr>
        <p:spPr>
          <a:xfrm>
            <a:off x="4425696" y="1380744"/>
            <a:ext cx="2213866" cy="4599432"/>
          </a:xfrm>
          <a:prstGeom prst="roundRect">
            <a:avLst>
              <a:gd name="adj" fmla="val 11565"/>
            </a:avLst>
          </a:prstGeom>
          <a:solidFill>
            <a:schemeClr val="tx1"/>
          </a:solidFill>
          <a:ln w="12700">
            <a:solidFill>
              <a:schemeClr val="tx1"/>
            </a:solidFill>
            <a:prstDash val="solid"/>
          </a:ln>
          <a:effectLst>
            <a:outerShdw sx="100000" sy="100000" kx="0" ky="0" algn="bl" rotWithShape="0" blurRad="203200" dist="76200" dir="5400000">
              <a:srgbClr val="0E341E">
                <a:alpha val="30000"/>
              </a:srgbClr>
            </a:outerShdw>
          </a:effectLst>
        </p:spPr>
      </p:sp>
      <p:pic>
        <p:nvPicPr>
          <p:cNvPr id="10" name="journey screen 2" descr="Onboarding trivia question with the correct answer highlighted">    </p:cNvPr>
          <p:cNvPicPr>
            <a:picLocks noChangeAspect="1"/>
          </p:cNvPicPr>
          <p:nvPr/>
        </p:nvPicPr>
        <p:blipFill>
          <a:blip r:embed="rId2"/>
          <a:stretch>
            <a:fillRect/>
          </a:stretch>
        </p:blipFill>
        <p:spPr>
          <a:xfrm>
            <a:off x="4507992" y="1463040"/>
            <a:ext cx="2049274" cy="4434840"/>
          </a:xfrm>
          <a:prstGeom prst="rect">
            <a:avLst/>
          </a:prstGeom>
        </p:spPr>
      </p:pic>
      <p:sp>
        <p:nvSpPr>
          <p:cNvPr id="11" name="journey step 2"/>
          <p:cNvSpPr/>
          <p:nvPr/>
        </p:nvSpPr>
        <p:spPr>
          <a:xfrm>
            <a:off x="6877306" y="2103120"/>
            <a:ext cx="502920" cy="502920"/>
          </a:xfrm>
          <a:prstGeom prst="ellipse">
            <a:avLst/>
          </a:prstGeom>
          <a:solidFill>
            <a:schemeClr val="accent3"/>
          </a:solidFill>
          <a:ln w="19050">
            <a:solidFill>
              <a:schemeClr val="bg1"/>
            </a:solidFill>
            <a:prstDash val="solid"/>
          </a:ln>
        </p:spPr>
      </p:sp>
      <p:sp>
        <p:nvSpPr>
          <p:cNvPr id="12" name="journey number 2"/>
          <p:cNvSpPr txBox="1"/>
          <p:nvPr/>
        </p:nvSpPr>
        <p:spPr>
          <a:xfrm>
            <a:off x="6877306" y="2103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3" name="journey title 2"/>
          <p:cNvSpPr txBox="1"/>
          <p:nvPr/>
        </p:nvSpPr>
        <p:spPr>
          <a:xfrm>
            <a:off x="6877306" y="2788920"/>
            <a:ext cx="1371600" cy="685800"/>
          </a:xfrm>
          <a:prstGeom prst="rect">
            <a:avLst/>
          </a:prstGeom>
          <a:noFill/>
          <a:ln/>
        </p:spPr>
        <p:txBody>
          <a:bodyPr wrap="square" lIns="0" tIns="0" rIns="0" bIns="0" rtlCol="0" anchor="t"/>
          <a:lstStyle/>
          <a:p>
            <a:pPr indent="0" marL="0">
              <a:buNone/>
            </a:pPr>
            <a:r>
              <a:rPr lang="en-US" sz="1800" b="1" dirty="0">
                <a:solidFill>
                  <a:schemeClr val="tx1"/>
                </a:solidFill>
              </a:rPr>
              <a:t>Quick quiz</a:t>
            </a:r>
            <a:endParaRPr lang="en-US" sz="1800" dirty="0"/>
          </a:p>
        </p:txBody>
      </p:sp>
      <p:sp>
        <p:nvSpPr>
          <p:cNvPr id="14" name="journey body 2"/>
          <p:cNvSpPr txBox="1"/>
          <p:nvPr/>
        </p:nvSpPr>
        <p:spPr>
          <a:xfrm>
            <a:off x="6877306" y="3474720"/>
            <a:ext cx="1371600" cy="2194560"/>
          </a:xfrm>
          <a:prstGeom prst="rect">
            <a:avLst/>
          </a:prstGeom>
          <a:noFill/>
          <a:ln/>
        </p:spPr>
        <p:txBody>
          <a:bodyPr wrap="square" lIns="0" tIns="0" rIns="0" bIns="0" rtlCol="0" anchor="t"/>
          <a:lstStyle/>
          <a:p>
            <a:pPr indent="0" marL="0">
              <a:buNone/>
            </a:pPr>
            <a:r>
              <a:rPr lang="en-US" sz="1400" dirty="0">
                <a:solidFill>
                  <a:srgbClr val="4A5A4F"/>
                </a:solidFill>
              </a:rPr>
              <a:t>Five questions about their house, with instant feedback.</a:t>
            </a:r>
            <a:endParaRPr lang="en-US" sz="1400" dirty="0"/>
          </a:p>
        </p:txBody>
      </p:sp>
      <p:sp>
        <p:nvSpPr>
          <p:cNvPr id="15" name="journey screen 3 phone"/>
          <p:cNvSpPr/>
          <p:nvPr/>
        </p:nvSpPr>
        <p:spPr>
          <a:xfrm>
            <a:off x="8247888" y="1380744"/>
            <a:ext cx="2213866" cy="4599432"/>
          </a:xfrm>
          <a:prstGeom prst="roundRect">
            <a:avLst>
              <a:gd name="adj" fmla="val 11565"/>
            </a:avLst>
          </a:prstGeom>
          <a:solidFill>
            <a:schemeClr val="tx1"/>
          </a:solidFill>
          <a:ln w="12700">
            <a:solidFill>
              <a:schemeClr val="tx1"/>
            </a:solidFill>
            <a:prstDash val="solid"/>
          </a:ln>
          <a:effectLst>
            <a:outerShdw sx="100000" sy="100000" kx="0" ky="0" algn="bl" rotWithShape="0" blurRad="203200" dist="76200" dir="5400000">
              <a:srgbClr val="0E341E">
                <a:alpha val="30000"/>
              </a:srgbClr>
            </a:outerShdw>
          </a:effectLst>
        </p:spPr>
      </p:sp>
      <p:pic>
        <p:nvPicPr>
          <p:cNvPr id="16" name="journey screen 3" descr="Saranda house forest on a phone with the new member's first seed">    </p:cNvPr>
          <p:cNvPicPr>
            <a:picLocks noChangeAspect="1"/>
          </p:cNvPicPr>
          <p:nvPr/>
        </p:nvPicPr>
        <p:blipFill>
          <a:blip r:embed="rId3"/>
          <a:stretch>
            <a:fillRect/>
          </a:stretch>
        </p:blipFill>
        <p:spPr>
          <a:xfrm>
            <a:off x="8330184" y="1463040"/>
            <a:ext cx="2049274" cy="4434840"/>
          </a:xfrm>
          <a:prstGeom prst="rect">
            <a:avLst/>
          </a:prstGeom>
        </p:spPr>
      </p:pic>
      <p:sp>
        <p:nvSpPr>
          <p:cNvPr id="17" name="journey step 3"/>
          <p:cNvSpPr/>
          <p:nvPr/>
        </p:nvSpPr>
        <p:spPr>
          <a:xfrm>
            <a:off x="10699498" y="2103120"/>
            <a:ext cx="502920" cy="502920"/>
          </a:xfrm>
          <a:prstGeom prst="ellipse">
            <a:avLst/>
          </a:prstGeom>
          <a:solidFill>
            <a:schemeClr val="accent3"/>
          </a:solidFill>
          <a:ln w="19050">
            <a:solidFill>
              <a:schemeClr val="bg1"/>
            </a:solidFill>
            <a:prstDash val="solid"/>
          </a:ln>
        </p:spPr>
      </p:sp>
      <p:sp>
        <p:nvSpPr>
          <p:cNvPr id="18" name="journey number 3"/>
          <p:cNvSpPr txBox="1"/>
          <p:nvPr/>
        </p:nvSpPr>
        <p:spPr>
          <a:xfrm>
            <a:off x="10699498" y="2103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journey title 3"/>
          <p:cNvSpPr txBox="1"/>
          <p:nvPr/>
        </p:nvSpPr>
        <p:spPr>
          <a:xfrm>
            <a:off x="10699498" y="2788920"/>
            <a:ext cx="1371600" cy="685800"/>
          </a:xfrm>
          <a:prstGeom prst="rect">
            <a:avLst/>
          </a:prstGeom>
          <a:noFill/>
          <a:ln/>
        </p:spPr>
        <p:txBody>
          <a:bodyPr wrap="square" lIns="0" tIns="0" rIns="0" bIns="0" rtlCol="0" anchor="t"/>
          <a:lstStyle/>
          <a:p>
            <a:pPr indent="0" marL="0">
              <a:buNone/>
            </a:pPr>
            <a:r>
              <a:rPr lang="en-US" sz="1800" b="1" dirty="0">
                <a:solidFill>
                  <a:schemeClr val="tx1"/>
                </a:solidFill>
              </a:rPr>
              <a:t>First seed</a:t>
            </a:r>
            <a:endParaRPr lang="en-US" sz="1800" dirty="0"/>
          </a:p>
        </p:txBody>
      </p:sp>
      <p:sp>
        <p:nvSpPr>
          <p:cNvPr id="20" name="journey body 3"/>
          <p:cNvSpPr txBox="1"/>
          <p:nvPr/>
        </p:nvSpPr>
        <p:spPr>
          <a:xfrm>
            <a:off x="10699498" y="3474720"/>
            <a:ext cx="1371600" cy="2194560"/>
          </a:xfrm>
          <a:prstGeom prst="rect">
            <a:avLst/>
          </a:prstGeom>
          <a:noFill/>
          <a:ln/>
        </p:spPr>
        <p:txBody>
          <a:bodyPr wrap="square" lIns="0" tIns="0" rIns="0" bIns="0" rtlCol="0" anchor="t"/>
          <a:lstStyle/>
          <a:p>
            <a:pPr indent="0" marL="0">
              <a:buNone/>
            </a:pPr>
            <a:r>
              <a:rPr lang="en-US" sz="1400" dirty="0">
                <a:solidFill>
                  <a:srgbClr val="4A5A4F"/>
                </a:solidFill>
              </a:rPr>
              <a:t>Their seedling appears on the map with their name, plus the Ranger badge.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The core loop: from quest to tree in 60 seconds</a:t>
            </a:r>
            <a:endParaRPr lang="en-US" sz="3400" dirty="0"/>
          </a:p>
        </p:txBody>
      </p:sp>
      <p:sp>
        <p:nvSpPr>
          <p:cNvPr id="3" name="loop card 1"/>
          <p:cNvSpPr/>
          <p:nvPr/>
        </p:nvSpPr>
        <p:spPr>
          <a:xfrm>
            <a:off x="548640" y="1463040"/>
            <a:ext cx="2468880" cy="2011680"/>
          </a:xfrm>
          <a:prstGeom prst="roundRect">
            <a:avLst>
              <a:gd name="adj" fmla="val 818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loop 1 circle"/>
          <p:cNvSpPr/>
          <p:nvPr/>
        </p:nvSpPr>
        <p:spPr>
          <a:xfrm>
            <a:off x="777240" y="1691640"/>
            <a:ext cx="594360" cy="594360"/>
          </a:xfrm>
          <a:prstGeom prst="ellipse">
            <a:avLst/>
          </a:prstGeom>
          <a:solidFill>
            <a:schemeClr val="accent4"/>
          </a:solidFill>
          <a:ln w="19050">
            <a:solidFill>
              <a:schemeClr val="bg1"/>
            </a:solidFill>
            <a:prstDash val="solid"/>
          </a:ln>
        </p:spPr>
      </p:sp>
      <p:pic>
        <p:nvPicPr>
          <p:cNvPr id="5" name="loop 1 icon" descr="preencoded.png">    </p:cNvPr>
          <p:cNvPicPr>
            <a:picLocks noChangeAspect="1"/>
          </p:cNvPicPr>
          <p:nvPr/>
        </p:nvPicPr>
        <p:blipFill>
          <a:blip r:embed="rId1"/>
          <a:stretch>
            <a:fillRect/>
          </a:stretch>
        </p:blipFill>
        <p:spPr>
          <a:xfrm>
            <a:off x="919886" y="1834286"/>
            <a:ext cx="309067" cy="309067"/>
          </a:xfrm>
          <a:prstGeom prst="rect">
            <a:avLst/>
          </a:prstGeom>
        </p:spPr>
      </p:pic>
      <p:sp>
        <p:nvSpPr>
          <p:cNvPr id="6" name="loop title 1"/>
          <p:cNvSpPr txBox="1"/>
          <p:nvPr/>
        </p:nvSpPr>
        <p:spPr>
          <a:xfrm>
            <a:off x="777240" y="23774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Admin adds a quest</a:t>
            </a:r>
            <a:endParaRPr lang="en-US" sz="1600" dirty="0"/>
          </a:p>
        </p:txBody>
      </p:sp>
      <p:sp>
        <p:nvSpPr>
          <p:cNvPr id="7" name="loop body 1"/>
          <p:cNvSpPr txBox="1"/>
          <p:nvPr/>
        </p:nvSpPr>
        <p:spPr>
          <a:xfrm>
            <a:off x="777240" y="2743200"/>
            <a:ext cx="2057400" cy="640080"/>
          </a:xfrm>
          <a:prstGeom prst="rect">
            <a:avLst/>
          </a:prstGeom>
          <a:noFill/>
          <a:ln/>
        </p:spPr>
        <p:txBody>
          <a:bodyPr wrap="square" lIns="0" tIns="0" rIns="0" bIns="0" rtlCol="0" anchor="t"/>
          <a:lstStyle/>
          <a:p>
            <a:pPr indent="0" marL="0">
              <a:buNone/>
            </a:pPr>
            <a:r>
              <a:rPr lang="en-US" sz="1400" dirty="0">
                <a:solidFill>
                  <a:srgbClr val="4A5A4F"/>
                </a:solidFill>
              </a:rPr>
              <a:t>“Attend Saturday meetup, +30 Seeds”</a:t>
            </a:r>
            <a:endParaRPr lang="en-US" sz="1400" dirty="0"/>
          </a:p>
        </p:txBody>
      </p:sp>
      <p:pic>
        <p:nvPicPr>
          <p:cNvPr id="8" name="loop arrow 1" descr="preencoded.png">    </p:cNvPr>
          <p:cNvPicPr>
            <a:picLocks noChangeAspect="1"/>
          </p:cNvPicPr>
          <p:nvPr/>
        </p:nvPicPr>
        <p:blipFill>
          <a:blip r:embed="rId2"/>
          <a:stretch>
            <a:fillRect/>
          </a:stretch>
        </p:blipFill>
        <p:spPr>
          <a:xfrm>
            <a:off x="3099816" y="2331720"/>
            <a:ext cx="256032" cy="256032"/>
          </a:xfrm>
          <a:prstGeom prst="rect">
            <a:avLst/>
          </a:prstGeom>
        </p:spPr>
      </p:pic>
      <p:sp>
        <p:nvSpPr>
          <p:cNvPr id="9" name="loop card 2"/>
          <p:cNvSpPr/>
          <p:nvPr/>
        </p:nvSpPr>
        <p:spPr>
          <a:xfrm>
            <a:off x="3429000" y="1463040"/>
            <a:ext cx="2468880" cy="2011680"/>
          </a:xfrm>
          <a:prstGeom prst="roundRect">
            <a:avLst>
              <a:gd name="adj" fmla="val 818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0" name="loop 2 circle"/>
          <p:cNvSpPr/>
          <p:nvPr/>
        </p:nvSpPr>
        <p:spPr>
          <a:xfrm>
            <a:off x="3657600" y="1691640"/>
            <a:ext cx="594360" cy="594360"/>
          </a:xfrm>
          <a:prstGeom prst="ellipse">
            <a:avLst/>
          </a:prstGeom>
          <a:solidFill>
            <a:schemeClr val="accent4"/>
          </a:solidFill>
          <a:ln w="19050">
            <a:solidFill>
              <a:schemeClr val="bg1"/>
            </a:solidFill>
            <a:prstDash val="solid"/>
          </a:ln>
        </p:spPr>
      </p:sp>
      <p:pic>
        <p:nvPicPr>
          <p:cNvPr id="11" name="loop 2 icon" descr="preencoded.png">    </p:cNvPr>
          <p:cNvPicPr>
            <a:picLocks noChangeAspect="1"/>
          </p:cNvPicPr>
          <p:nvPr/>
        </p:nvPicPr>
        <p:blipFill>
          <a:blip r:embed="rId3"/>
          <a:stretch>
            <a:fillRect/>
          </a:stretch>
        </p:blipFill>
        <p:spPr>
          <a:xfrm>
            <a:off x="3800246" y="1834286"/>
            <a:ext cx="309067" cy="309067"/>
          </a:xfrm>
          <a:prstGeom prst="rect">
            <a:avLst/>
          </a:prstGeom>
        </p:spPr>
      </p:pic>
      <p:sp>
        <p:nvSpPr>
          <p:cNvPr id="12" name="loop title 2"/>
          <p:cNvSpPr txBox="1"/>
          <p:nvPr/>
        </p:nvSpPr>
        <p:spPr>
          <a:xfrm>
            <a:off x="3657600" y="23774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Member sends proof</a:t>
            </a:r>
            <a:endParaRPr lang="en-US" sz="1600" dirty="0"/>
          </a:p>
        </p:txBody>
      </p:sp>
      <p:sp>
        <p:nvSpPr>
          <p:cNvPr id="13" name="loop body 2"/>
          <p:cNvSpPr txBox="1"/>
          <p:nvPr/>
        </p:nvSpPr>
        <p:spPr>
          <a:xfrm>
            <a:off x="3657600" y="2743200"/>
            <a:ext cx="2057400" cy="640080"/>
          </a:xfrm>
          <a:prstGeom prst="rect">
            <a:avLst/>
          </a:prstGeom>
          <a:noFill/>
          <a:ln/>
        </p:spPr>
        <p:txBody>
          <a:bodyPr wrap="square" lIns="0" tIns="0" rIns="0" bIns="0" rtlCol="0" anchor="t"/>
          <a:lstStyle/>
          <a:p>
            <a:pPr indent="0" marL="0">
              <a:buNone/>
            </a:pPr>
            <a:r>
              <a:rPr lang="en-US" sz="1400" dirty="0">
                <a:solidFill>
                  <a:srgbClr val="4A5A4F"/>
                </a:solidFill>
              </a:rPr>
              <a:t>A photo, link or note from their phone</a:t>
            </a:r>
            <a:endParaRPr lang="en-US" sz="1400" dirty="0"/>
          </a:p>
        </p:txBody>
      </p:sp>
      <p:pic>
        <p:nvPicPr>
          <p:cNvPr id="14" name="loop arrow 2" descr="preencoded.png">    </p:cNvPr>
          <p:cNvPicPr>
            <a:picLocks noChangeAspect="1"/>
          </p:cNvPicPr>
          <p:nvPr/>
        </p:nvPicPr>
        <p:blipFill>
          <a:blip r:embed="rId4"/>
          <a:stretch>
            <a:fillRect/>
          </a:stretch>
        </p:blipFill>
        <p:spPr>
          <a:xfrm>
            <a:off x="5980176" y="2331720"/>
            <a:ext cx="256032" cy="256032"/>
          </a:xfrm>
          <a:prstGeom prst="rect">
            <a:avLst/>
          </a:prstGeom>
        </p:spPr>
      </p:pic>
      <p:sp>
        <p:nvSpPr>
          <p:cNvPr id="15" name="loop card 3"/>
          <p:cNvSpPr/>
          <p:nvPr/>
        </p:nvSpPr>
        <p:spPr>
          <a:xfrm>
            <a:off x="6309360" y="1463040"/>
            <a:ext cx="2468880" cy="2011680"/>
          </a:xfrm>
          <a:prstGeom prst="roundRect">
            <a:avLst>
              <a:gd name="adj" fmla="val 818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6" name="loop 3 circle"/>
          <p:cNvSpPr/>
          <p:nvPr/>
        </p:nvSpPr>
        <p:spPr>
          <a:xfrm>
            <a:off x="6537960" y="1691640"/>
            <a:ext cx="594360" cy="594360"/>
          </a:xfrm>
          <a:prstGeom prst="ellipse">
            <a:avLst/>
          </a:prstGeom>
          <a:solidFill>
            <a:schemeClr val="accent4"/>
          </a:solidFill>
          <a:ln w="19050">
            <a:solidFill>
              <a:schemeClr val="bg1"/>
            </a:solidFill>
            <a:prstDash val="solid"/>
          </a:ln>
        </p:spPr>
      </p:sp>
      <p:pic>
        <p:nvPicPr>
          <p:cNvPr id="17" name="loop 3 icon" descr="preencoded.png">    </p:cNvPr>
          <p:cNvPicPr>
            <a:picLocks noChangeAspect="1"/>
          </p:cNvPicPr>
          <p:nvPr/>
        </p:nvPicPr>
        <p:blipFill>
          <a:blip r:embed="rId5"/>
          <a:stretch>
            <a:fillRect/>
          </a:stretch>
        </p:blipFill>
        <p:spPr>
          <a:xfrm>
            <a:off x="6680606" y="1834286"/>
            <a:ext cx="309067" cy="309067"/>
          </a:xfrm>
          <a:prstGeom prst="rect">
            <a:avLst/>
          </a:prstGeom>
        </p:spPr>
      </p:pic>
      <p:sp>
        <p:nvSpPr>
          <p:cNvPr id="18" name="loop title 3"/>
          <p:cNvSpPr txBox="1"/>
          <p:nvPr/>
        </p:nvSpPr>
        <p:spPr>
          <a:xfrm>
            <a:off x="6537960" y="23774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Admin approves</a:t>
            </a:r>
            <a:endParaRPr lang="en-US" sz="1600" dirty="0"/>
          </a:p>
        </p:txBody>
      </p:sp>
      <p:sp>
        <p:nvSpPr>
          <p:cNvPr id="19" name="loop body 3"/>
          <p:cNvSpPr txBox="1"/>
          <p:nvPr/>
        </p:nvSpPr>
        <p:spPr>
          <a:xfrm>
            <a:off x="6537960" y="2743200"/>
            <a:ext cx="2057400" cy="640080"/>
          </a:xfrm>
          <a:prstGeom prst="rect">
            <a:avLst/>
          </a:prstGeom>
          <a:noFill/>
          <a:ln/>
        </p:spPr>
        <p:txBody>
          <a:bodyPr wrap="square" lIns="0" tIns="0" rIns="0" bIns="0" rtlCol="0" anchor="t"/>
          <a:lstStyle/>
          <a:p>
            <a:pPr indent="0" marL="0">
              <a:buNone/>
            </a:pPr>
            <a:r>
              <a:rPr lang="en-US" sz="1400" dirty="0">
                <a:solidFill>
                  <a:srgbClr val="4A5A4F"/>
                </a:solidFill>
              </a:rPr>
              <a:t>One tap, or bulk-approve many at once</a:t>
            </a:r>
            <a:endParaRPr lang="en-US" sz="1400" dirty="0"/>
          </a:p>
        </p:txBody>
      </p:sp>
      <p:pic>
        <p:nvPicPr>
          <p:cNvPr id="20" name="loop arrow 3" descr="preencoded.png">    </p:cNvPr>
          <p:cNvPicPr>
            <a:picLocks noChangeAspect="1"/>
          </p:cNvPicPr>
          <p:nvPr/>
        </p:nvPicPr>
        <p:blipFill>
          <a:blip r:embed="rId6"/>
          <a:stretch>
            <a:fillRect/>
          </a:stretch>
        </p:blipFill>
        <p:spPr>
          <a:xfrm>
            <a:off x="8860536" y="2331720"/>
            <a:ext cx="256032" cy="256032"/>
          </a:xfrm>
          <a:prstGeom prst="rect">
            <a:avLst/>
          </a:prstGeom>
        </p:spPr>
      </p:pic>
      <p:sp>
        <p:nvSpPr>
          <p:cNvPr id="21" name="loop card 4"/>
          <p:cNvSpPr/>
          <p:nvPr/>
        </p:nvSpPr>
        <p:spPr>
          <a:xfrm>
            <a:off x="9189720" y="1463040"/>
            <a:ext cx="2468880" cy="2011680"/>
          </a:xfrm>
          <a:prstGeom prst="roundRect">
            <a:avLst>
              <a:gd name="adj" fmla="val 818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2" name="loop 4 circle"/>
          <p:cNvSpPr/>
          <p:nvPr/>
        </p:nvSpPr>
        <p:spPr>
          <a:xfrm>
            <a:off x="9418320" y="1691640"/>
            <a:ext cx="594360" cy="594360"/>
          </a:xfrm>
          <a:prstGeom prst="ellipse">
            <a:avLst/>
          </a:prstGeom>
          <a:solidFill>
            <a:schemeClr val="accent1"/>
          </a:solidFill>
          <a:ln w="19050">
            <a:solidFill>
              <a:schemeClr val="bg1"/>
            </a:solidFill>
            <a:prstDash val="solid"/>
          </a:ln>
        </p:spPr>
      </p:sp>
      <p:pic>
        <p:nvPicPr>
          <p:cNvPr id="23" name="loop 4 icon" descr="preencoded.png">    </p:cNvPr>
          <p:cNvPicPr>
            <a:picLocks noChangeAspect="1"/>
          </p:cNvPicPr>
          <p:nvPr/>
        </p:nvPicPr>
        <p:blipFill>
          <a:blip r:embed="rId7"/>
          <a:stretch>
            <a:fillRect/>
          </a:stretch>
        </p:blipFill>
        <p:spPr>
          <a:xfrm>
            <a:off x="9560966" y="1834286"/>
            <a:ext cx="309067" cy="309067"/>
          </a:xfrm>
          <a:prstGeom prst="rect">
            <a:avLst/>
          </a:prstGeom>
        </p:spPr>
      </p:pic>
      <p:sp>
        <p:nvSpPr>
          <p:cNvPr id="24" name="loop title 4"/>
          <p:cNvSpPr txBox="1"/>
          <p:nvPr/>
        </p:nvSpPr>
        <p:spPr>
          <a:xfrm>
            <a:off x="9418320" y="23774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A tree sprouts</a:t>
            </a:r>
            <a:endParaRPr lang="en-US" sz="1600" dirty="0"/>
          </a:p>
        </p:txBody>
      </p:sp>
      <p:sp>
        <p:nvSpPr>
          <p:cNvPr id="25" name="loop body 4"/>
          <p:cNvSpPr txBox="1"/>
          <p:nvPr/>
        </p:nvSpPr>
        <p:spPr>
          <a:xfrm>
            <a:off x="9418320" y="2743200"/>
            <a:ext cx="2057400" cy="640080"/>
          </a:xfrm>
          <a:prstGeom prst="rect">
            <a:avLst/>
          </a:prstGeom>
          <a:noFill/>
          <a:ln/>
        </p:spPr>
        <p:txBody>
          <a:bodyPr wrap="square" lIns="0" tIns="0" rIns="0" bIns="0" rtlCol="0" anchor="t"/>
          <a:lstStyle/>
          <a:p>
            <a:pPr indent="0" marL="0">
              <a:buNone/>
            </a:pPr>
            <a:r>
              <a:rPr lang="en-US" sz="1400" dirty="0">
                <a:solidFill>
                  <a:srgbClr val="4A5A4F"/>
                </a:solidFill>
              </a:rPr>
              <a:t>With the member's name; the house bar moves</a:t>
            </a:r>
            <a:endParaRPr lang="en-US" sz="1400" dirty="0"/>
          </a:p>
        </p:txBody>
      </p:sp>
      <p:sp>
        <p:nvSpPr>
          <p:cNvPr id="26" name="Approval queue screenshot frame"/>
          <p:cNvSpPr/>
          <p:nvPr/>
        </p:nvSpPr>
        <p:spPr>
          <a:xfrm>
            <a:off x="548640" y="3767328"/>
            <a:ext cx="4078224" cy="2359152"/>
          </a:xfrm>
          <a:prstGeom prst="roundRect">
            <a:avLst>
              <a:gd name="adj" fmla="val 6977"/>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27" name="Approval queue screenshot" descr="Admin approval queue with proofs and Approve and Reject buttons">    </p:cNvPr>
          <p:cNvPicPr>
            <a:picLocks noChangeAspect="1"/>
          </p:cNvPicPr>
          <p:nvPr/>
        </p:nvPicPr>
        <p:blipFill>
          <a:blip r:embed="rId8"/>
          <a:srcRect l="0" r="0" t="0" b="0"/>
          <a:stretch/>
        </p:blipFill>
        <p:spPr>
          <a:xfrm>
            <a:off x="621792" y="3840480"/>
            <a:ext cx="3931920" cy="2212848"/>
          </a:xfrm>
          <a:prstGeom prst="rect">
            <a:avLst/>
          </a:prstGeom>
        </p:spPr>
      </p:pic>
      <p:sp>
        <p:nvSpPr>
          <p:cNvPr id="28" name="approve card"/>
          <p:cNvSpPr/>
          <p:nvPr/>
        </p:nvSpPr>
        <p:spPr>
          <a:xfrm>
            <a:off x="4846320" y="3767328"/>
            <a:ext cx="6784848" cy="2359152"/>
          </a:xfrm>
          <a:prstGeom prst="roundRect">
            <a:avLst>
              <a:gd name="adj" fmla="val 6977"/>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9" name="approve heading"/>
          <p:cNvSpPr txBox="1"/>
          <p:nvPr/>
        </p:nvSpPr>
        <p:spPr>
          <a:xfrm>
            <a:off x="5120640" y="3886200"/>
            <a:ext cx="6309360" cy="365760"/>
          </a:xfrm>
          <a:prstGeom prst="rect">
            <a:avLst/>
          </a:prstGeom>
          <a:noFill/>
          <a:ln/>
        </p:spPr>
        <p:txBody>
          <a:bodyPr wrap="square" lIns="0" tIns="0" rIns="0" bIns="0" rtlCol="0" anchor="t"/>
          <a:lstStyle/>
          <a:p>
            <a:pPr indent="0" marL="0">
              <a:buNone/>
            </a:pPr>
            <a:r>
              <a:rPr lang="en-US" sz="1700" b="1" dirty="0">
                <a:solidFill>
                  <a:schemeClr val="accent1"/>
                </a:solidFill>
              </a:rPr>
              <a:t>What one press of “Approve” does, all or nothing</a:t>
            </a:r>
            <a:endParaRPr lang="en-US" sz="1700" dirty="0"/>
          </a:p>
        </p:txBody>
      </p:sp>
      <p:sp>
        <p:nvSpPr>
          <p:cNvPr id="30" name="approve steps"/>
          <p:cNvSpPr txBox="1"/>
          <p:nvPr/>
        </p:nvSpPr>
        <p:spPr>
          <a:xfrm>
            <a:off x="5120640" y="4297680"/>
            <a:ext cx="6309360" cy="169164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400" dirty="0">
                <a:solidFill>
                  <a:schemeClr val="tx1"/>
                </a:solidFill>
              </a:rPr>
              <a:t>Submission marked approved</a:t>
            </a:r>
            <a:endParaRPr lang="en-US" sz="1400" dirty="0"/>
          </a:p>
          <a:p>
            <a:pPr marL="342900" indent="-342900">
              <a:spcAft>
                <a:spcPts val="200"/>
              </a:spcAft>
              <a:buSzPct val="100000"/>
              <a:buFont typeface="+mj-lt"/>
              <a:buAutoNum type="arabicPeriod" startAt="1"/>
            </a:pPr>
            <a:r>
              <a:rPr lang="en-US" sz="1400" dirty="0">
                <a:solidFill>
                  <a:schemeClr val="tx1"/>
                </a:solidFill>
              </a:rPr>
              <a:t>Seeds added to the member and to the house</a:t>
            </a:r>
            <a:endParaRPr lang="en-US" sz="1400" dirty="0"/>
          </a:p>
          <a:p>
            <a:pPr marL="342900" indent="-342900">
              <a:spcAft>
                <a:spcPts val="200"/>
              </a:spcAft>
              <a:buSzPct val="100000"/>
              <a:buFont typeface="+mj-lt"/>
              <a:buAutoNum type="arabicPeriod" startAt="1"/>
            </a:pPr>
            <a:r>
              <a:rPr lang="en-US" sz="1400" dirty="0">
                <a:solidFill>
                  <a:schemeClr val="tx1"/>
                </a:solidFill>
              </a:rPr>
              <a:t>A new forest item planted with the member's name</a:t>
            </a:r>
            <a:endParaRPr lang="en-US" sz="1400" dirty="0"/>
          </a:p>
          <a:p>
            <a:pPr marL="342900" indent="-342900">
              <a:spcAft>
                <a:spcPts val="200"/>
              </a:spcAft>
              <a:buSzPct val="100000"/>
              <a:buFont typeface="+mj-lt"/>
              <a:buAutoNum type="arabicPeriod" startAt="1"/>
            </a:pPr>
            <a:r>
              <a:rPr lang="en-US" sz="1400" dirty="0">
                <a:solidFill>
                  <a:schemeClr val="tx1"/>
                </a:solidFill>
              </a:rPr>
              <a:t>Badges checked and awarded</a:t>
            </a:r>
            <a:endParaRPr lang="en-US" sz="1400" dirty="0"/>
          </a:p>
          <a:p>
            <a:pPr marL="342900" indent="-342900">
              <a:spcAft>
                <a:spcPts val="200"/>
              </a:spcAft>
              <a:buSzPct val="100000"/>
              <a:buFont typeface="+mj-lt"/>
              <a:buAutoNum type="arabicPeriod" startAt="1"/>
            </a:pPr>
            <a:r>
              <a:rPr lang="en-US" sz="1400" dirty="0">
                <a:solidFill>
                  <a:schemeClr val="tx1"/>
                </a:solidFill>
              </a:rPr>
              <a:t>A line written to the activity 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Nine houses, nine real Indian forests</a:t>
            </a:r>
            <a:endParaRPr lang="en-US" sz="3400" dirty="0"/>
          </a:p>
        </p:txBody>
      </p:sp>
      <p:sp>
        <p:nvSpPr>
          <p:cNvPr id="3" name="house card Saranda"/>
          <p:cNvSpPr/>
          <p:nvPr/>
        </p:nvSpPr>
        <p:spPr>
          <a:xfrm>
            <a:off x="548640" y="141732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house dot Saranda"/>
          <p:cNvSpPr/>
          <p:nvPr/>
        </p:nvSpPr>
        <p:spPr>
          <a:xfrm>
            <a:off x="777240" y="1691640"/>
            <a:ext cx="502920" cy="502920"/>
          </a:xfrm>
          <a:prstGeom prst="ellipse">
            <a:avLst/>
          </a:prstGeom>
          <a:solidFill>
            <a:srgbClr val="2F6B3F"/>
          </a:solidFill>
          <a:ln w="19050">
            <a:solidFill>
              <a:schemeClr val="bg1"/>
            </a:solidFill>
            <a:prstDash val="solid"/>
          </a:ln>
        </p:spPr>
      </p:sp>
      <p:sp>
        <p:nvSpPr>
          <p:cNvPr id="5" name="house initial Saranda"/>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S</a:t>
            </a:r>
            <a:endParaRPr lang="en-US" sz="1800" dirty="0"/>
          </a:p>
        </p:txBody>
      </p:sp>
      <p:sp>
        <p:nvSpPr>
          <p:cNvPr id="6" name="house name Saranda"/>
          <p:cNvSpPr txBox="1"/>
          <p:nvPr/>
        </p:nvSpPr>
        <p:spPr>
          <a:xfrm>
            <a:off x="1444752" y="1581912"/>
            <a:ext cx="2514600" cy="365760"/>
          </a:xfrm>
          <a:prstGeom prst="rect">
            <a:avLst/>
          </a:prstGeom>
          <a:noFill/>
          <a:ln/>
        </p:spPr>
        <p:txBody>
          <a:bodyPr wrap="square" lIns="0" tIns="0" rIns="0" bIns="0" rtlCol="0" anchor="t"/>
          <a:lstStyle/>
          <a:p>
            <a:pPr indent="0" marL="0">
              <a:buNone/>
            </a:pPr>
            <a:r>
              <a:rPr lang="en-US" sz="1800" b="1" dirty="0">
                <a:solidFill>
                  <a:srgbClr val="2F6B3F"/>
                </a:solidFill>
              </a:rPr>
              <a:t>Saranda</a:t>
            </a:r>
            <a:endParaRPr lang="en-US" sz="1800" dirty="0"/>
          </a:p>
        </p:txBody>
      </p:sp>
      <p:sp>
        <p:nvSpPr>
          <p:cNvPr id="7" name="house place Saranda"/>
          <p:cNvSpPr txBox="1"/>
          <p:nvPr/>
        </p:nvSpPr>
        <p:spPr>
          <a:xfrm>
            <a:off x="1444752" y="1929384"/>
            <a:ext cx="2514600" cy="411480"/>
          </a:xfrm>
          <a:prstGeom prst="rect">
            <a:avLst/>
          </a:prstGeom>
          <a:noFill/>
          <a:ln/>
        </p:spPr>
        <p:txBody>
          <a:bodyPr wrap="square" lIns="0" tIns="0" rIns="0" bIns="0" rtlCol="0" anchor="t"/>
          <a:lstStyle/>
          <a:p>
            <a:pPr indent="0" marL="0">
              <a:buNone/>
            </a:pPr>
            <a:r>
              <a:rPr lang="en-US" sz="1200" dirty="0">
                <a:solidFill>
                  <a:srgbClr val="4A5A4F"/>
                </a:solidFill>
              </a:rPr>
              <a:t>Saranda Forest, Jharkhand</a:t>
            </a:r>
            <a:endParaRPr lang="en-US" sz="1200" dirty="0"/>
          </a:p>
        </p:txBody>
      </p:sp>
      <p:sp>
        <p:nvSpPr>
          <p:cNvPr id="8" name="house legend Saranda"/>
          <p:cNvSpPr txBox="1"/>
          <p:nvPr/>
        </p:nvSpPr>
        <p:spPr>
          <a:xfrm>
            <a:off x="1444752" y="235000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Wild elephant herd</a:t>
            </a:r>
            <a:endParaRPr lang="en-US" sz="1300" dirty="0"/>
          </a:p>
        </p:txBody>
      </p:sp>
      <p:sp>
        <p:nvSpPr>
          <p:cNvPr id="9" name="house card Gir"/>
          <p:cNvSpPr/>
          <p:nvPr/>
        </p:nvSpPr>
        <p:spPr>
          <a:xfrm>
            <a:off x="4306824" y="141732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0" name="house dot Gir"/>
          <p:cNvSpPr/>
          <p:nvPr/>
        </p:nvSpPr>
        <p:spPr>
          <a:xfrm>
            <a:off x="4535424" y="1691640"/>
            <a:ext cx="502920" cy="502920"/>
          </a:xfrm>
          <a:prstGeom prst="ellipse">
            <a:avLst/>
          </a:prstGeom>
          <a:solidFill>
            <a:srgbClr val="A0662A"/>
          </a:solidFill>
          <a:ln w="19050">
            <a:solidFill>
              <a:schemeClr val="bg1"/>
            </a:solidFill>
            <a:prstDash val="solid"/>
          </a:ln>
        </p:spPr>
      </p:sp>
      <p:sp>
        <p:nvSpPr>
          <p:cNvPr id="11" name="house initial Gir"/>
          <p:cNvSpPr txBox="1"/>
          <p:nvPr/>
        </p:nvSpPr>
        <p:spPr>
          <a:xfrm>
            <a:off x="4535424"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G</a:t>
            </a:r>
            <a:endParaRPr lang="en-US" sz="1800" dirty="0"/>
          </a:p>
        </p:txBody>
      </p:sp>
      <p:sp>
        <p:nvSpPr>
          <p:cNvPr id="12" name="house name Gir"/>
          <p:cNvSpPr txBox="1"/>
          <p:nvPr/>
        </p:nvSpPr>
        <p:spPr>
          <a:xfrm>
            <a:off x="5202936" y="1581912"/>
            <a:ext cx="2514600" cy="365760"/>
          </a:xfrm>
          <a:prstGeom prst="rect">
            <a:avLst/>
          </a:prstGeom>
          <a:noFill/>
          <a:ln/>
        </p:spPr>
        <p:txBody>
          <a:bodyPr wrap="square" lIns="0" tIns="0" rIns="0" bIns="0" rtlCol="0" anchor="t"/>
          <a:lstStyle/>
          <a:p>
            <a:pPr indent="0" marL="0">
              <a:buNone/>
            </a:pPr>
            <a:r>
              <a:rPr lang="en-US" sz="1800" b="1" dirty="0">
                <a:solidFill>
                  <a:srgbClr val="A0662A"/>
                </a:solidFill>
              </a:rPr>
              <a:t>Gir</a:t>
            </a:r>
            <a:endParaRPr lang="en-US" sz="1800" dirty="0"/>
          </a:p>
        </p:txBody>
      </p:sp>
      <p:sp>
        <p:nvSpPr>
          <p:cNvPr id="13" name="house place Gir"/>
          <p:cNvSpPr txBox="1"/>
          <p:nvPr/>
        </p:nvSpPr>
        <p:spPr>
          <a:xfrm>
            <a:off x="5202936" y="1929384"/>
            <a:ext cx="2514600" cy="411480"/>
          </a:xfrm>
          <a:prstGeom prst="rect">
            <a:avLst/>
          </a:prstGeom>
          <a:noFill/>
          <a:ln/>
        </p:spPr>
        <p:txBody>
          <a:bodyPr wrap="square" lIns="0" tIns="0" rIns="0" bIns="0" rtlCol="0" anchor="t"/>
          <a:lstStyle/>
          <a:p>
            <a:pPr indent="0" marL="0">
              <a:buNone/>
            </a:pPr>
            <a:r>
              <a:rPr lang="en-US" sz="1200" dirty="0">
                <a:solidFill>
                  <a:srgbClr val="4A5A4F"/>
                </a:solidFill>
              </a:rPr>
              <a:t>Gir National Park, Gujarat</a:t>
            </a:r>
            <a:endParaRPr lang="en-US" sz="1200" dirty="0"/>
          </a:p>
        </p:txBody>
      </p:sp>
      <p:sp>
        <p:nvSpPr>
          <p:cNvPr id="14" name="house legend Gir"/>
          <p:cNvSpPr txBox="1"/>
          <p:nvPr/>
        </p:nvSpPr>
        <p:spPr>
          <a:xfrm>
            <a:off x="5202936" y="235000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Asiatic lion pride</a:t>
            </a:r>
            <a:endParaRPr lang="en-US" sz="1300" dirty="0"/>
          </a:p>
        </p:txBody>
      </p:sp>
      <p:sp>
        <p:nvSpPr>
          <p:cNvPr id="15" name="house card Kanha"/>
          <p:cNvSpPr/>
          <p:nvPr/>
        </p:nvSpPr>
        <p:spPr>
          <a:xfrm>
            <a:off x="8065008" y="141732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6" name="house dot Kanha"/>
          <p:cNvSpPr/>
          <p:nvPr/>
        </p:nvSpPr>
        <p:spPr>
          <a:xfrm>
            <a:off x="8293608" y="1691640"/>
            <a:ext cx="502920" cy="502920"/>
          </a:xfrm>
          <a:prstGeom prst="ellipse">
            <a:avLst/>
          </a:prstGeom>
          <a:solidFill>
            <a:srgbClr val="5B7F2B"/>
          </a:solidFill>
          <a:ln w="19050">
            <a:solidFill>
              <a:schemeClr val="bg1"/>
            </a:solidFill>
            <a:prstDash val="solid"/>
          </a:ln>
        </p:spPr>
      </p:sp>
      <p:sp>
        <p:nvSpPr>
          <p:cNvPr id="17" name="house initial Kanha"/>
          <p:cNvSpPr txBox="1"/>
          <p:nvPr/>
        </p:nvSpPr>
        <p:spPr>
          <a:xfrm>
            <a:off x="8293608"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K</a:t>
            </a:r>
            <a:endParaRPr lang="en-US" sz="1800" dirty="0"/>
          </a:p>
        </p:txBody>
      </p:sp>
      <p:sp>
        <p:nvSpPr>
          <p:cNvPr id="18" name="house name Kanha"/>
          <p:cNvSpPr txBox="1"/>
          <p:nvPr/>
        </p:nvSpPr>
        <p:spPr>
          <a:xfrm>
            <a:off x="8961120" y="1581912"/>
            <a:ext cx="2514600" cy="365760"/>
          </a:xfrm>
          <a:prstGeom prst="rect">
            <a:avLst/>
          </a:prstGeom>
          <a:noFill/>
          <a:ln/>
        </p:spPr>
        <p:txBody>
          <a:bodyPr wrap="square" lIns="0" tIns="0" rIns="0" bIns="0" rtlCol="0" anchor="t"/>
          <a:lstStyle/>
          <a:p>
            <a:pPr indent="0" marL="0">
              <a:buNone/>
            </a:pPr>
            <a:r>
              <a:rPr lang="en-US" sz="1800" b="1" dirty="0">
                <a:solidFill>
                  <a:srgbClr val="5B7F2B"/>
                </a:solidFill>
              </a:rPr>
              <a:t>Kanha</a:t>
            </a:r>
            <a:endParaRPr lang="en-US" sz="1800" dirty="0"/>
          </a:p>
        </p:txBody>
      </p:sp>
      <p:sp>
        <p:nvSpPr>
          <p:cNvPr id="19" name="house place Kanha"/>
          <p:cNvSpPr txBox="1"/>
          <p:nvPr/>
        </p:nvSpPr>
        <p:spPr>
          <a:xfrm>
            <a:off x="8961120" y="1929384"/>
            <a:ext cx="2514600" cy="411480"/>
          </a:xfrm>
          <a:prstGeom prst="rect">
            <a:avLst/>
          </a:prstGeom>
          <a:noFill/>
          <a:ln/>
        </p:spPr>
        <p:txBody>
          <a:bodyPr wrap="square" lIns="0" tIns="0" rIns="0" bIns="0" rtlCol="0" anchor="t"/>
          <a:lstStyle/>
          <a:p>
            <a:pPr indent="0" marL="0">
              <a:buNone/>
            </a:pPr>
            <a:r>
              <a:rPr lang="en-US" sz="1200" dirty="0">
                <a:solidFill>
                  <a:srgbClr val="4A5A4F"/>
                </a:solidFill>
              </a:rPr>
              <a:t>Kanha National Park, Madhya Pradesh</a:t>
            </a:r>
            <a:endParaRPr lang="en-US" sz="1200" dirty="0"/>
          </a:p>
        </p:txBody>
      </p:sp>
      <p:sp>
        <p:nvSpPr>
          <p:cNvPr id="20" name="house legend Kanha"/>
          <p:cNvSpPr txBox="1"/>
          <p:nvPr/>
        </p:nvSpPr>
        <p:spPr>
          <a:xfrm>
            <a:off x="8961120" y="235000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Barasingha (swamp deer)</a:t>
            </a:r>
            <a:endParaRPr lang="en-US" sz="1300" dirty="0"/>
          </a:p>
        </p:txBody>
      </p:sp>
      <p:sp>
        <p:nvSpPr>
          <p:cNvPr id="21" name="house card Bandipur"/>
          <p:cNvSpPr/>
          <p:nvPr/>
        </p:nvSpPr>
        <p:spPr>
          <a:xfrm>
            <a:off x="548640" y="297180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2" name="house dot Bandipur"/>
          <p:cNvSpPr/>
          <p:nvPr/>
        </p:nvSpPr>
        <p:spPr>
          <a:xfrm>
            <a:off x="777240" y="3246120"/>
            <a:ext cx="502920" cy="502920"/>
          </a:xfrm>
          <a:prstGeom prst="ellipse">
            <a:avLst/>
          </a:prstGeom>
          <a:solidFill>
            <a:srgbClr val="8A3B2A"/>
          </a:solidFill>
          <a:ln w="19050">
            <a:solidFill>
              <a:schemeClr val="bg1"/>
            </a:solidFill>
            <a:prstDash val="solid"/>
          </a:ln>
        </p:spPr>
      </p:sp>
      <p:sp>
        <p:nvSpPr>
          <p:cNvPr id="23" name="house initial Bandipur"/>
          <p:cNvSpPr txBox="1"/>
          <p:nvPr/>
        </p:nvSpPr>
        <p:spPr>
          <a:xfrm>
            <a:off x="777240" y="3246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24" name="house name Bandipur"/>
          <p:cNvSpPr txBox="1"/>
          <p:nvPr/>
        </p:nvSpPr>
        <p:spPr>
          <a:xfrm>
            <a:off x="1444752" y="3136392"/>
            <a:ext cx="2514600" cy="365760"/>
          </a:xfrm>
          <a:prstGeom prst="rect">
            <a:avLst/>
          </a:prstGeom>
          <a:noFill/>
          <a:ln/>
        </p:spPr>
        <p:txBody>
          <a:bodyPr wrap="square" lIns="0" tIns="0" rIns="0" bIns="0" rtlCol="0" anchor="t"/>
          <a:lstStyle/>
          <a:p>
            <a:pPr indent="0" marL="0">
              <a:buNone/>
            </a:pPr>
            <a:r>
              <a:rPr lang="en-US" sz="1800" b="1" dirty="0">
                <a:solidFill>
                  <a:srgbClr val="8A3B2A"/>
                </a:solidFill>
              </a:rPr>
              <a:t>Bandipur</a:t>
            </a:r>
            <a:endParaRPr lang="en-US" sz="1800" dirty="0"/>
          </a:p>
        </p:txBody>
      </p:sp>
      <p:sp>
        <p:nvSpPr>
          <p:cNvPr id="25" name="house place Bandipur"/>
          <p:cNvSpPr txBox="1"/>
          <p:nvPr/>
        </p:nvSpPr>
        <p:spPr>
          <a:xfrm>
            <a:off x="1444752" y="3483864"/>
            <a:ext cx="2514600" cy="411480"/>
          </a:xfrm>
          <a:prstGeom prst="rect">
            <a:avLst/>
          </a:prstGeom>
          <a:noFill/>
          <a:ln/>
        </p:spPr>
        <p:txBody>
          <a:bodyPr wrap="square" lIns="0" tIns="0" rIns="0" bIns="0" rtlCol="0" anchor="t"/>
          <a:lstStyle/>
          <a:p>
            <a:pPr indent="0" marL="0">
              <a:buNone/>
            </a:pPr>
            <a:r>
              <a:rPr lang="en-US" sz="1200" dirty="0">
                <a:solidFill>
                  <a:srgbClr val="4A5A4F"/>
                </a:solidFill>
              </a:rPr>
              <a:t>Bandipur National Park, Karnataka</a:t>
            </a:r>
            <a:endParaRPr lang="en-US" sz="1200" dirty="0"/>
          </a:p>
        </p:txBody>
      </p:sp>
      <p:sp>
        <p:nvSpPr>
          <p:cNvPr id="26" name="house legend Bandipur"/>
          <p:cNvSpPr txBox="1"/>
          <p:nvPr/>
        </p:nvSpPr>
        <p:spPr>
          <a:xfrm>
            <a:off x="1444752" y="390448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Tiger and elephant</a:t>
            </a:r>
            <a:endParaRPr lang="en-US" sz="1300" dirty="0"/>
          </a:p>
        </p:txBody>
      </p:sp>
      <p:sp>
        <p:nvSpPr>
          <p:cNvPr id="27" name="house card Corbett"/>
          <p:cNvSpPr/>
          <p:nvPr/>
        </p:nvSpPr>
        <p:spPr>
          <a:xfrm>
            <a:off x="4306824" y="297180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8" name="house dot Corbett"/>
          <p:cNvSpPr/>
          <p:nvPr/>
        </p:nvSpPr>
        <p:spPr>
          <a:xfrm>
            <a:off x="4535424" y="3246120"/>
            <a:ext cx="502920" cy="502920"/>
          </a:xfrm>
          <a:prstGeom prst="ellipse">
            <a:avLst/>
          </a:prstGeom>
          <a:solidFill>
            <a:srgbClr val="C0562B"/>
          </a:solidFill>
          <a:ln w="19050">
            <a:solidFill>
              <a:schemeClr val="bg1"/>
            </a:solidFill>
            <a:prstDash val="solid"/>
          </a:ln>
        </p:spPr>
      </p:sp>
      <p:sp>
        <p:nvSpPr>
          <p:cNvPr id="29" name="house initial Corbett"/>
          <p:cNvSpPr txBox="1"/>
          <p:nvPr/>
        </p:nvSpPr>
        <p:spPr>
          <a:xfrm>
            <a:off x="4535424" y="3246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30" name="house name Corbett"/>
          <p:cNvSpPr txBox="1"/>
          <p:nvPr/>
        </p:nvSpPr>
        <p:spPr>
          <a:xfrm>
            <a:off x="5202936" y="3136392"/>
            <a:ext cx="2514600" cy="365760"/>
          </a:xfrm>
          <a:prstGeom prst="rect">
            <a:avLst/>
          </a:prstGeom>
          <a:noFill/>
          <a:ln/>
        </p:spPr>
        <p:txBody>
          <a:bodyPr wrap="square" lIns="0" tIns="0" rIns="0" bIns="0" rtlCol="0" anchor="t"/>
          <a:lstStyle/>
          <a:p>
            <a:pPr indent="0" marL="0">
              <a:buNone/>
            </a:pPr>
            <a:r>
              <a:rPr lang="en-US" sz="1800" b="1" dirty="0">
                <a:solidFill>
                  <a:srgbClr val="C0562B"/>
                </a:solidFill>
              </a:rPr>
              <a:t>Corbett</a:t>
            </a:r>
            <a:endParaRPr lang="en-US" sz="1800" dirty="0"/>
          </a:p>
        </p:txBody>
      </p:sp>
      <p:sp>
        <p:nvSpPr>
          <p:cNvPr id="31" name="house place Corbett"/>
          <p:cNvSpPr txBox="1"/>
          <p:nvPr/>
        </p:nvSpPr>
        <p:spPr>
          <a:xfrm>
            <a:off x="5202936" y="3483864"/>
            <a:ext cx="2514600" cy="411480"/>
          </a:xfrm>
          <a:prstGeom prst="rect">
            <a:avLst/>
          </a:prstGeom>
          <a:noFill/>
          <a:ln/>
        </p:spPr>
        <p:txBody>
          <a:bodyPr wrap="square" lIns="0" tIns="0" rIns="0" bIns="0" rtlCol="0" anchor="t"/>
          <a:lstStyle/>
          <a:p>
            <a:pPr indent="0" marL="0">
              <a:buNone/>
            </a:pPr>
            <a:r>
              <a:rPr lang="en-US" sz="1200" dirty="0">
                <a:solidFill>
                  <a:srgbClr val="4A5A4F"/>
                </a:solidFill>
              </a:rPr>
              <a:t>Jim Corbett National Park, Uttarakhand</a:t>
            </a:r>
            <a:endParaRPr lang="en-US" sz="1200" dirty="0"/>
          </a:p>
        </p:txBody>
      </p:sp>
      <p:sp>
        <p:nvSpPr>
          <p:cNvPr id="32" name="house legend Corbett"/>
          <p:cNvSpPr txBox="1"/>
          <p:nvPr/>
        </p:nvSpPr>
        <p:spPr>
          <a:xfrm>
            <a:off x="5202936" y="390448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Bengal tiger</a:t>
            </a:r>
            <a:endParaRPr lang="en-US" sz="1300" dirty="0"/>
          </a:p>
        </p:txBody>
      </p:sp>
      <p:sp>
        <p:nvSpPr>
          <p:cNvPr id="33" name="house card Namdapha"/>
          <p:cNvSpPr/>
          <p:nvPr/>
        </p:nvSpPr>
        <p:spPr>
          <a:xfrm>
            <a:off x="8065008" y="297180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34" name="house dot Namdapha"/>
          <p:cNvSpPr/>
          <p:nvPr/>
        </p:nvSpPr>
        <p:spPr>
          <a:xfrm>
            <a:off x="8293608" y="3246120"/>
            <a:ext cx="502920" cy="502920"/>
          </a:xfrm>
          <a:prstGeom prst="ellipse">
            <a:avLst/>
          </a:prstGeom>
          <a:solidFill>
            <a:srgbClr val="B5402E"/>
          </a:solidFill>
          <a:ln w="19050">
            <a:solidFill>
              <a:schemeClr val="bg1"/>
            </a:solidFill>
            <a:prstDash val="solid"/>
          </a:ln>
        </p:spPr>
      </p:sp>
      <p:sp>
        <p:nvSpPr>
          <p:cNvPr id="35" name="house initial Namdapha"/>
          <p:cNvSpPr txBox="1"/>
          <p:nvPr/>
        </p:nvSpPr>
        <p:spPr>
          <a:xfrm>
            <a:off x="8293608" y="3246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N</a:t>
            </a:r>
            <a:endParaRPr lang="en-US" sz="1800" dirty="0"/>
          </a:p>
        </p:txBody>
      </p:sp>
      <p:sp>
        <p:nvSpPr>
          <p:cNvPr id="36" name="house name Namdapha"/>
          <p:cNvSpPr txBox="1"/>
          <p:nvPr/>
        </p:nvSpPr>
        <p:spPr>
          <a:xfrm>
            <a:off x="8961120" y="3136392"/>
            <a:ext cx="2514600" cy="365760"/>
          </a:xfrm>
          <a:prstGeom prst="rect">
            <a:avLst/>
          </a:prstGeom>
          <a:noFill/>
          <a:ln/>
        </p:spPr>
        <p:txBody>
          <a:bodyPr wrap="square" lIns="0" tIns="0" rIns="0" bIns="0" rtlCol="0" anchor="t"/>
          <a:lstStyle/>
          <a:p>
            <a:pPr indent="0" marL="0">
              <a:buNone/>
            </a:pPr>
            <a:r>
              <a:rPr lang="en-US" sz="1800" b="1" dirty="0">
                <a:solidFill>
                  <a:srgbClr val="B5402E"/>
                </a:solidFill>
              </a:rPr>
              <a:t>Namdapha</a:t>
            </a:r>
            <a:endParaRPr lang="en-US" sz="1800" dirty="0"/>
          </a:p>
        </p:txBody>
      </p:sp>
      <p:sp>
        <p:nvSpPr>
          <p:cNvPr id="37" name="house place Namdapha"/>
          <p:cNvSpPr txBox="1"/>
          <p:nvPr/>
        </p:nvSpPr>
        <p:spPr>
          <a:xfrm>
            <a:off x="8961120" y="3483864"/>
            <a:ext cx="2514600" cy="411480"/>
          </a:xfrm>
          <a:prstGeom prst="rect">
            <a:avLst/>
          </a:prstGeom>
          <a:noFill/>
          <a:ln/>
        </p:spPr>
        <p:txBody>
          <a:bodyPr wrap="square" lIns="0" tIns="0" rIns="0" bIns="0" rtlCol="0" anchor="t"/>
          <a:lstStyle/>
          <a:p>
            <a:pPr indent="0" marL="0">
              <a:buNone/>
            </a:pPr>
            <a:r>
              <a:rPr lang="en-US" sz="1200" dirty="0">
                <a:solidFill>
                  <a:srgbClr val="4A5A4F"/>
                </a:solidFill>
              </a:rPr>
              <a:t>Namdapha National Park, Arunachal Pradesh</a:t>
            </a:r>
            <a:endParaRPr lang="en-US" sz="1200" dirty="0"/>
          </a:p>
        </p:txBody>
      </p:sp>
      <p:sp>
        <p:nvSpPr>
          <p:cNvPr id="38" name="house legend Namdapha"/>
          <p:cNvSpPr txBox="1"/>
          <p:nvPr/>
        </p:nvSpPr>
        <p:spPr>
          <a:xfrm>
            <a:off x="8961120" y="390448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Red panda</a:t>
            </a:r>
            <a:endParaRPr lang="en-US" sz="1300" dirty="0"/>
          </a:p>
        </p:txBody>
      </p:sp>
      <p:sp>
        <p:nvSpPr>
          <p:cNvPr id="39" name="house card Pichavaram"/>
          <p:cNvSpPr/>
          <p:nvPr/>
        </p:nvSpPr>
        <p:spPr>
          <a:xfrm>
            <a:off x="548640" y="452628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0" name="house dot Pichavaram"/>
          <p:cNvSpPr/>
          <p:nvPr/>
        </p:nvSpPr>
        <p:spPr>
          <a:xfrm>
            <a:off x="777240" y="4800600"/>
            <a:ext cx="502920" cy="502920"/>
          </a:xfrm>
          <a:prstGeom prst="ellipse">
            <a:avLst/>
          </a:prstGeom>
          <a:solidFill>
            <a:srgbClr val="1F6F78"/>
          </a:solidFill>
          <a:ln w="19050">
            <a:solidFill>
              <a:schemeClr val="bg1"/>
            </a:solidFill>
            <a:prstDash val="solid"/>
          </a:ln>
        </p:spPr>
      </p:sp>
      <p:sp>
        <p:nvSpPr>
          <p:cNvPr id="41" name="house initial Pichavaram"/>
          <p:cNvSpPr txBox="1"/>
          <p:nvPr/>
        </p:nvSpPr>
        <p:spPr>
          <a:xfrm>
            <a:off x="777240" y="4800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P</a:t>
            </a:r>
            <a:endParaRPr lang="en-US" sz="1800" dirty="0"/>
          </a:p>
        </p:txBody>
      </p:sp>
      <p:sp>
        <p:nvSpPr>
          <p:cNvPr id="42" name="house name Pichavaram"/>
          <p:cNvSpPr txBox="1"/>
          <p:nvPr/>
        </p:nvSpPr>
        <p:spPr>
          <a:xfrm>
            <a:off x="1444752" y="4690872"/>
            <a:ext cx="2514600" cy="365760"/>
          </a:xfrm>
          <a:prstGeom prst="rect">
            <a:avLst/>
          </a:prstGeom>
          <a:noFill/>
          <a:ln/>
        </p:spPr>
        <p:txBody>
          <a:bodyPr wrap="square" lIns="0" tIns="0" rIns="0" bIns="0" rtlCol="0" anchor="t"/>
          <a:lstStyle/>
          <a:p>
            <a:pPr indent="0" marL="0">
              <a:buNone/>
            </a:pPr>
            <a:r>
              <a:rPr lang="en-US" sz="1800" b="1" dirty="0">
                <a:solidFill>
                  <a:srgbClr val="1F6F78"/>
                </a:solidFill>
              </a:rPr>
              <a:t>Pichavaram</a:t>
            </a:r>
            <a:endParaRPr lang="en-US" sz="1800" dirty="0"/>
          </a:p>
        </p:txBody>
      </p:sp>
      <p:sp>
        <p:nvSpPr>
          <p:cNvPr id="43" name="house place Pichavaram"/>
          <p:cNvSpPr txBox="1"/>
          <p:nvPr/>
        </p:nvSpPr>
        <p:spPr>
          <a:xfrm>
            <a:off x="1444752" y="5038344"/>
            <a:ext cx="2514600" cy="411480"/>
          </a:xfrm>
          <a:prstGeom prst="rect">
            <a:avLst/>
          </a:prstGeom>
          <a:noFill/>
          <a:ln/>
        </p:spPr>
        <p:txBody>
          <a:bodyPr wrap="square" lIns="0" tIns="0" rIns="0" bIns="0" rtlCol="0" anchor="t"/>
          <a:lstStyle/>
          <a:p>
            <a:pPr indent="0" marL="0">
              <a:buNone/>
            </a:pPr>
            <a:r>
              <a:rPr lang="en-US" sz="1200" dirty="0">
                <a:solidFill>
                  <a:srgbClr val="4A5A4F"/>
                </a:solidFill>
              </a:rPr>
              <a:t>Pichavaram Mangroves, Tamil Nadu</a:t>
            </a:r>
            <a:endParaRPr lang="en-US" sz="1200" dirty="0"/>
          </a:p>
        </p:txBody>
      </p:sp>
      <p:sp>
        <p:nvSpPr>
          <p:cNvPr id="44" name="house legend Pichavaram"/>
          <p:cNvSpPr txBox="1"/>
          <p:nvPr/>
        </p:nvSpPr>
        <p:spPr>
          <a:xfrm>
            <a:off x="1444752" y="545896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Flocks of water birds</a:t>
            </a:r>
            <a:endParaRPr lang="en-US" sz="1300" dirty="0"/>
          </a:p>
        </p:txBody>
      </p:sp>
      <p:sp>
        <p:nvSpPr>
          <p:cNvPr id="45" name="house card Wayanad"/>
          <p:cNvSpPr/>
          <p:nvPr/>
        </p:nvSpPr>
        <p:spPr>
          <a:xfrm>
            <a:off x="4306824" y="452628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6" name="house dot Wayanad"/>
          <p:cNvSpPr/>
          <p:nvPr/>
        </p:nvSpPr>
        <p:spPr>
          <a:xfrm>
            <a:off x="4535424" y="4800600"/>
            <a:ext cx="502920" cy="502920"/>
          </a:xfrm>
          <a:prstGeom prst="ellipse">
            <a:avLst/>
          </a:prstGeom>
          <a:solidFill>
            <a:srgbClr val="2E7D4F"/>
          </a:solidFill>
          <a:ln w="19050">
            <a:solidFill>
              <a:schemeClr val="bg1"/>
            </a:solidFill>
            <a:prstDash val="solid"/>
          </a:ln>
        </p:spPr>
      </p:sp>
      <p:sp>
        <p:nvSpPr>
          <p:cNvPr id="47" name="house initial Wayanad"/>
          <p:cNvSpPr txBox="1"/>
          <p:nvPr/>
        </p:nvSpPr>
        <p:spPr>
          <a:xfrm>
            <a:off x="4535424" y="4800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W</a:t>
            </a:r>
            <a:endParaRPr lang="en-US" sz="1800" dirty="0"/>
          </a:p>
        </p:txBody>
      </p:sp>
      <p:sp>
        <p:nvSpPr>
          <p:cNvPr id="48" name="house name Wayanad"/>
          <p:cNvSpPr txBox="1"/>
          <p:nvPr/>
        </p:nvSpPr>
        <p:spPr>
          <a:xfrm>
            <a:off x="5202936" y="4690872"/>
            <a:ext cx="2514600" cy="365760"/>
          </a:xfrm>
          <a:prstGeom prst="rect">
            <a:avLst/>
          </a:prstGeom>
          <a:noFill/>
          <a:ln/>
        </p:spPr>
        <p:txBody>
          <a:bodyPr wrap="square" lIns="0" tIns="0" rIns="0" bIns="0" rtlCol="0" anchor="t"/>
          <a:lstStyle/>
          <a:p>
            <a:pPr indent="0" marL="0">
              <a:buNone/>
            </a:pPr>
            <a:r>
              <a:rPr lang="en-US" sz="1800" b="1" dirty="0">
                <a:solidFill>
                  <a:srgbClr val="2E7D4F"/>
                </a:solidFill>
              </a:rPr>
              <a:t>Wayanad</a:t>
            </a:r>
            <a:endParaRPr lang="en-US" sz="1800" dirty="0"/>
          </a:p>
        </p:txBody>
      </p:sp>
      <p:sp>
        <p:nvSpPr>
          <p:cNvPr id="49" name="house place Wayanad"/>
          <p:cNvSpPr txBox="1"/>
          <p:nvPr/>
        </p:nvSpPr>
        <p:spPr>
          <a:xfrm>
            <a:off x="5202936" y="5038344"/>
            <a:ext cx="2514600" cy="411480"/>
          </a:xfrm>
          <a:prstGeom prst="rect">
            <a:avLst/>
          </a:prstGeom>
          <a:noFill/>
          <a:ln/>
        </p:spPr>
        <p:txBody>
          <a:bodyPr wrap="square" lIns="0" tIns="0" rIns="0" bIns="0" rtlCol="0" anchor="t"/>
          <a:lstStyle/>
          <a:p>
            <a:pPr indent="0" marL="0">
              <a:buNone/>
            </a:pPr>
            <a:r>
              <a:rPr lang="en-US" sz="1200" dirty="0">
                <a:solidFill>
                  <a:srgbClr val="4A5A4F"/>
                </a:solidFill>
              </a:rPr>
              <a:t>Wayanad Wildlife Sanctuary, Kerala</a:t>
            </a:r>
            <a:endParaRPr lang="en-US" sz="1200" dirty="0"/>
          </a:p>
        </p:txBody>
      </p:sp>
      <p:sp>
        <p:nvSpPr>
          <p:cNvPr id="50" name="house legend Wayanad"/>
          <p:cNvSpPr txBox="1"/>
          <p:nvPr/>
        </p:nvSpPr>
        <p:spPr>
          <a:xfrm>
            <a:off x="5202936" y="545896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Asian elephant</a:t>
            </a:r>
            <a:endParaRPr lang="en-US" sz="1300" dirty="0"/>
          </a:p>
        </p:txBody>
      </p:sp>
      <p:sp>
        <p:nvSpPr>
          <p:cNvPr id="51" name="house card Kaziranga"/>
          <p:cNvSpPr/>
          <p:nvPr/>
        </p:nvSpPr>
        <p:spPr>
          <a:xfrm>
            <a:off x="8065008" y="4526280"/>
            <a:ext cx="3566160" cy="1371600"/>
          </a:xfrm>
          <a:prstGeom prst="roundRect">
            <a:avLst>
              <a:gd name="adj" fmla="val 12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52" name="house dot Kaziranga"/>
          <p:cNvSpPr/>
          <p:nvPr/>
        </p:nvSpPr>
        <p:spPr>
          <a:xfrm>
            <a:off x="8293608" y="4800600"/>
            <a:ext cx="502920" cy="502920"/>
          </a:xfrm>
          <a:prstGeom prst="ellipse">
            <a:avLst/>
          </a:prstGeom>
          <a:solidFill>
            <a:srgbClr val="4B6B3A"/>
          </a:solidFill>
          <a:ln w="19050">
            <a:solidFill>
              <a:schemeClr val="bg1"/>
            </a:solidFill>
            <a:prstDash val="solid"/>
          </a:ln>
        </p:spPr>
      </p:sp>
      <p:sp>
        <p:nvSpPr>
          <p:cNvPr id="53" name="house initial Kaziranga"/>
          <p:cNvSpPr txBox="1"/>
          <p:nvPr/>
        </p:nvSpPr>
        <p:spPr>
          <a:xfrm>
            <a:off x="8293608" y="4800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K</a:t>
            </a:r>
            <a:endParaRPr lang="en-US" sz="1800" dirty="0"/>
          </a:p>
        </p:txBody>
      </p:sp>
      <p:sp>
        <p:nvSpPr>
          <p:cNvPr id="54" name="house name Kaziranga"/>
          <p:cNvSpPr txBox="1"/>
          <p:nvPr/>
        </p:nvSpPr>
        <p:spPr>
          <a:xfrm>
            <a:off x="8961120" y="4690872"/>
            <a:ext cx="2514600" cy="365760"/>
          </a:xfrm>
          <a:prstGeom prst="rect">
            <a:avLst/>
          </a:prstGeom>
          <a:noFill/>
          <a:ln/>
        </p:spPr>
        <p:txBody>
          <a:bodyPr wrap="square" lIns="0" tIns="0" rIns="0" bIns="0" rtlCol="0" anchor="t"/>
          <a:lstStyle/>
          <a:p>
            <a:pPr indent="0" marL="0">
              <a:buNone/>
            </a:pPr>
            <a:r>
              <a:rPr lang="en-US" sz="1800" b="1" dirty="0">
                <a:solidFill>
                  <a:srgbClr val="4B6B3A"/>
                </a:solidFill>
              </a:rPr>
              <a:t>Kaziranga</a:t>
            </a:r>
            <a:endParaRPr lang="en-US" sz="1800" dirty="0"/>
          </a:p>
        </p:txBody>
      </p:sp>
      <p:sp>
        <p:nvSpPr>
          <p:cNvPr id="55" name="house place Kaziranga"/>
          <p:cNvSpPr txBox="1"/>
          <p:nvPr/>
        </p:nvSpPr>
        <p:spPr>
          <a:xfrm>
            <a:off x="8961120" y="5038344"/>
            <a:ext cx="2514600" cy="411480"/>
          </a:xfrm>
          <a:prstGeom prst="rect">
            <a:avLst/>
          </a:prstGeom>
          <a:noFill/>
          <a:ln/>
        </p:spPr>
        <p:txBody>
          <a:bodyPr wrap="square" lIns="0" tIns="0" rIns="0" bIns="0" rtlCol="0" anchor="t"/>
          <a:lstStyle/>
          <a:p>
            <a:pPr indent="0" marL="0">
              <a:buNone/>
            </a:pPr>
            <a:r>
              <a:rPr lang="en-US" sz="1200" dirty="0">
                <a:solidFill>
                  <a:srgbClr val="4A5A4F"/>
                </a:solidFill>
              </a:rPr>
              <a:t>Kaziranga National Park, Assam</a:t>
            </a:r>
            <a:endParaRPr lang="en-US" sz="1200" dirty="0"/>
          </a:p>
        </p:txBody>
      </p:sp>
      <p:sp>
        <p:nvSpPr>
          <p:cNvPr id="56" name="house legend Kaziranga"/>
          <p:cNvSpPr txBox="1"/>
          <p:nvPr/>
        </p:nvSpPr>
        <p:spPr>
          <a:xfrm>
            <a:off x="8961120" y="5458968"/>
            <a:ext cx="2514600" cy="320040"/>
          </a:xfrm>
          <a:prstGeom prst="rect">
            <a:avLst/>
          </a:prstGeom>
          <a:noFill/>
          <a:ln/>
        </p:spPr>
        <p:txBody>
          <a:bodyPr wrap="square" lIns="0" tIns="0" rIns="0" bIns="0" rtlCol="0" anchor="t"/>
          <a:lstStyle/>
          <a:p>
            <a:pPr indent="0" marL="0">
              <a:buNone/>
            </a:pPr>
            <a:r>
              <a:rPr lang="en-US" sz="1300" b="1" dirty="0">
                <a:solidFill>
                  <a:schemeClr val="tx1"/>
                </a:solidFill>
              </a:rPr>
              <a:t>Legend: </a:t>
            </a:r>
            <a:pPr indent="0" marL="0">
              <a:buNone/>
            </a:pPr>
            <a:r>
              <a:rPr lang="en-US" sz="1300" dirty="0">
                <a:solidFill>
                  <a:schemeClr val="tx1"/>
                </a:solidFill>
              </a:rPr>
              <a:t>One-horned rhinoceros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Simple, visible rules everyone can follow</a:t>
            </a:r>
            <a:endParaRPr lang="en-US" sz="3400" dirty="0"/>
          </a:p>
        </p:txBody>
      </p:sp>
      <p:sp>
        <p:nvSpPr>
          <p:cNvPr id="3" name="stages card"/>
          <p:cNvSpPr/>
          <p:nvPr/>
        </p:nvSpPr>
        <p:spPr>
          <a:xfrm>
            <a:off x="548640" y="1417320"/>
            <a:ext cx="5760720" cy="4572000"/>
          </a:xfrm>
          <a:prstGeom prst="roundRect">
            <a:avLst>
              <a:gd name="adj" fmla="val 36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graphicFrame>
        <p:nvGraphicFramePr>
          <p:cNvPr id="4" name="stages chart" descr=""/>
          <p:cNvGraphicFramePr/>
          <p:nvPr/>
        </p:nvGraphicFramePr>
        <p:xfrm>
          <a:off x="731520" y="1554480"/>
          <a:ext cx="5394960" cy="4297680"/>
        </p:xfrm>
        <a:graphic xmlns:a="http://schemas.openxmlformats.org/drawingml/2006/main">
          <a:graphicData uri="http://schemas.openxmlformats.org/drawingml/2006/chart">
            <c:chart xmlns:c="http://schemas.openxmlformats.org/drawingml/2006/chart" r:id="rId1"/>
          </a:graphicData>
        </a:graphic>
      </p:graphicFrame>
      <p:sp>
        <p:nvSpPr>
          <p:cNvPr id="5" name="ranks heading"/>
          <p:cNvSpPr txBox="1"/>
          <p:nvPr/>
        </p:nvSpPr>
        <p:spPr>
          <a:xfrm>
            <a:off x="6583680" y="1417320"/>
            <a:ext cx="5029200" cy="365760"/>
          </a:xfrm>
          <a:prstGeom prst="rect">
            <a:avLst/>
          </a:prstGeom>
          <a:noFill/>
          <a:ln/>
        </p:spPr>
        <p:txBody>
          <a:bodyPr wrap="square" lIns="0" tIns="0" rIns="0" bIns="0" rtlCol="0" anchor="t"/>
          <a:lstStyle/>
          <a:p>
            <a:pPr indent="0" marL="0">
              <a:buNone/>
            </a:pPr>
            <a:r>
              <a:rPr lang="en-US" sz="1700" b="1" dirty="0">
                <a:solidFill>
                  <a:schemeClr val="accent1"/>
                </a:solidFill>
              </a:rPr>
              <a:t>Rank titles (personal Seeds)</a:t>
            </a:r>
            <a:endParaRPr lang="en-US" sz="1700" dirty="0"/>
          </a:p>
        </p:txBody>
      </p:sp>
      <p:sp>
        <p:nvSpPr>
          <p:cNvPr id="6" name="rank Seedling"/>
          <p:cNvSpPr/>
          <p:nvPr/>
        </p:nvSpPr>
        <p:spPr>
          <a:xfrm>
            <a:off x="6583680" y="1828800"/>
            <a:ext cx="1554480" cy="566928"/>
          </a:xfrm>
          <a:prstGeom prst="roundRect">
            <a:avLst>
              <a:gd name="adj" fmla="val 2903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7" name="rank text 0"/>
          <p:cNvSpPr txBox="1"/>
          <p:nvPr/>
        </p:nvSpPr>
        <p:spPr>
          <a:xfrm>
            <a:off x="6720840" y="1883664"/>
            <a:ext cx="1325880" cy="475488"/>
          </a:xfrm>
          <a:prstGeom prst="rect">
            <a:avLst/>
          </a:prstGeom>
          <a:noFill/>
          <a:ln/>
        </p:spPr>
        <p:txBody>
          <a:bodyPr wrap="square" lIns="0" tIns="0" rIns="0" bIns="0" rtlCol="0" anchor="t"/>
          <a:lstStyle/>
          <a:p>
            <a:pPr indent="0" marL="0">
              <a:buNone/>
            </a:pPr>
            <a:r>
              <a:rPr lang="en-US" sz="1400" b="1" dirty="0">
                <a:solidFill>
                  <a:schemeClr val="tx1"/>
                </a:solidFill>
              </a:rPr>
              <a:t>Seedling</a:t>
            </a:r>
            <a:endParaRPr lang="en-US" sz="1400" dirty="0"/>
          </a:p>
          <a:p>
            <a:pPr indent="0" marL="0">
              <a:buNone/>
            </a:pPr>
            <a:r>
              <a:rPr lang="en-US" sz="1100" dirty="0">
                <a:solidFill>
                  <a:srgbClr val="4A5A4F"/>
                </a:solidFill>
              </a:rPr>
              <a:t>0 Seeds</a:t>
            </a:r>
            <a:endParaRPr lang="en-US" sz="1400" dirty="0"/>
          </a:p>
        </p:txBody>
      </p:sp>
      <p:sp>
        <p:nvSpPr>
          <p:cNvPr id="8" name="rank Scout"/>
          <p:cNvSpPr/>
          <p:nvPr/>
        </p:nvSpPr>
        <p:spPr>
          <a:xfrm>
            <a:off x="8275320" y="1828800"/>
            <a:ext cx="1554480" cy="566928"/>
          </a:xfrm>
          <a:prstGeom prst="roundRect">
            <a:avLst>
              <a:gd name="adj" fmla="val 2903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9" name="rank text 1"/>
          <p:cNvSpPr txBox="1"/>
          <p:nvPr/>
        </p:nvSpPr>
        <p:spPr>
          <a:xfrm>
            <a:off x="8412480" y="1883664"/>
            <a:ext cx="1325880" cy="475488"/>
          </a:xfrm>
          <a:prstGeom prst="rect">
            <a:avLst/>
          </a:prstGeom>
          <a:noFill/>
          <a:ln/>
        </p:spPr>
        <p:txBody>
          <a:bodyPr wrap="square" lIns="0" tIns="0" rIns="0" bIns="0" rtlCol="0" anchor="t"/>
          <a:lstStyle/>
          <a:p>
            <a:pPr indent="0" marL="0">
              <a:buNone/>
            </a:pPr>
            <a:r>
              <a:rPr lang="en-US" sz="1400" b="1" dirty="0">
                <a:solidFill>
                  <a:schemeClr val="tx1"/>
                </a:solidFill>
              </a:rPr>
              <a:t>Scout</a:t>
            </a:r>
            <a:endParaRPr lang="en-US" sz="1400" dirty="0"/>
          </a:p>
          <a:p>
            <a:pPr indent="0" marL="0">
              <a:buNone/>
            </a:pPr>
            <a:r>
              <a:rPr lang="en-US" sz="1100" dirty="0">
                <a:solidFill>
                  <a:srgbClr val="4A5A4F"/>
                </a:solidFill>
              </a:rPr>
              <a:t>50 Seeds</a:t>
            </a:r>
            <a:endParaRPr lang="en-US" sz="1400" dirty="0"/>
          </a:p>
        </p:txBody>
      </p:sp>
      <p:sp>
        <p:nvSpPr>
          <p:cNvPr id="10" name="rank Tracker"/>
          <p:cNvSpPr/>
          <p:nvPr/>
        </p:nvSpPr>
        <p:spPr>
          <a:xfrm>
            <a:off x="9966960" y="1828800"/>
            <a:ext cx="1554480" cy="566928"/>
          </a:xfrm>
          <a:prstGeom prst="roundRect">
            <a:avLst>
              <a:gd name="adj" fmla="val 2903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1" name="rank text 2"/>
          <p:cNvSpPr txBox="1"/>
          <p:nvPr/>
        </p:nvSpPr>
        <p:spPr>
          <a:xfrm>
            <a:off x="10104120" y="1883664"/>
            <a:ext cx="1325880" cy="475488"/>
          </a:xfrm>
          <a:prstGeom prst="rect">
            <a:avLst/>
          </a:prstGeom>
          <a:noFill/>
          <a:ln/>
        </p:spPr>
        <p:txBody>
          <a:bodyPr wrap="square" lIns="0" tIns="0" rIns="0" bIns="0" rtlCol="0" anchor="t"/>
          <a:lstStyle/>
          <a:p>
            <a:pPr indent="0" marL="0">
              <a:buNone/>
            </a:pPr>
            <a:r>
              <a:rPr lang="en-US" sz="1400" b="1" dirty="0">
                <a:solidFill>
                  <a:schemeClr val="tx1"/>
                </a:solidFill>
              </a:rPr>
              <a:t>Tracker</a:t>
            </a:r>
            <a:endParaRPr lang="en-US" sz="1400" dirty="0"/>
          </a:p>
          <a:p>
            <a:pPr indent="0" marL="0">
              <a:buNone/>
            </a:pPr>
            <a:r>
              <a:rPr lang="en-US" sz="1100" dirty="0">
                <a:solidFill>
                  <a:srgbClr val="4A5A4F"/>
                </a:solidFill>
              </a:rPr>
              <a:t>150 Seeds</a:t>
            </a:r>
            <a:endParaRPr lang="en-US" sz="1400" dirty="0"/>
          </a:p>
        </p:txBody>
      </p:sp>
      <p:sp>
        <p:nvSpPr>
          <p:cNvPr id="12" name="rank Ranger"/>
          <p:cNvSpPr/>
          <p:nvPr/>
        </p:nvSpPr>
        <p:spPr>
          <a:xfrm>
            <a:off x="6583680" y="2514600"/>
            <a:ext cx="1554480" cy="566928"/>
          </a:xfrm>
          <a:prstGeom prst="roundRect">
            <a:avLst>
              <a:gd name="adj" fmla="val 2903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3" name="rank text 3"/>
          <p:cNvSpPr txBox="1"/>
          <p:nvPr/>
        </p:nvSpPr>
        <p:spPr>
          <a:xfrm>
            <a:off x="6720840" y="2569464"/>
            <a:ext cx="1325880" cy="475488"/>
          </a:xfrm>
          <a:prstGeom prst="rect">
            <a:avLst/>
          </a:prstGeom>
          <a:noFill/>
          <a:ln/>
        </p:spPr>
        <p:txBody>
          <a:bodyPr wrap="square" lIns="0" tIns="0" rIns="0" bIns="0" rtlCol="0" anchor="t"/>
          <a:lstStyle/>
          <a:p>
            <a:pPr indent="0" marL="0">
              <a:buNone/>
            </a:pPr>
            <a:r>
              <a:rPr lang="en-US" sz="1400" b="1" dirty="0">
                <a:solidFill>
                  <a:schemeClr val="tx1"/>
                </a:solidFill>
              </a:rPr>
              <a:t>Ranger</a:t>
            </a:r>
            <a:endParaRPr lang="en-US" sz="1400" dirty="0"/>
          </a:p>
          <a:p>
            <a:pPr indent="0" marL="0">
              <a:buNone/>
            </a:pPr>
            <a:r>
              <a:rPr lang="en-US" sz="1100" dirty="0">
                <a:solidFill>
                  <a:srgbClr val="4A5A4F"/>
                </a:solidFill>
              </a:rPr>
              <a:t>300 Seeds</a:t>
            </a:r>
            <a:endParaRPr lang="en-US" sz="1400" dirty="0"/>
          </a:p>
        </p:txBody>
      </p:sp>
      <p:sp>
        <p:nvSpPr>
          <p:cNvPr id="14" name="rank Warden"/>
          <p:cNvSpPr/>
          <p:nvPr/>
        </p:nvSpPr>
        <p:spPr>
          <a:xfrm>
            <a:off x="8275320" y="2514600"/>
            <a:ext cx="1554480" cy="566928"/>
          </a:xfrm>
          <a:prstGeom prst="roundRect">
            <a:avLst>
              <a:gd name="adj" fmla="val 2903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5" name="rank text 4"/>
          <p:cNvSpPr txBox="1"/>
          <p:nvPr/>
        </p:nvSpPr>
        <p:spPr>
          <a:xfrm>
            <a:off x="8412480" y="2569464"/>
            <a:ext cx="1325880" cy="475488"/>
          </a:xfrm>
          <a:prstGeom prst="rect">
            <a:avLst/>
          </a:prstGeom>
          <a:noFill/>
          <a:ln/>
        </p:spPr>
        <p:txBody>
          <a:bodyPr wrap="square" lIns="0" tIns="0" rIns="0" bIns="0" rtlCol="0" anchor="t"/>
          <a:lstStyle/>
          <a:p>
            <a:pPr indent="0" marL="0">
              <a:buNone/>
            </a:pPr>
            <a:r>
              <a:rPr lang="en-US" sz="1400" b="1" dirty="0">
                <a:solidFill>
                  <a:schemeClr val="tx1"/>
                </a:solidFill>
              </a:rPr>
              <a:t>Warden</a:t>
            </a:r>
            <a:endParaRPr lang="en-US" sz="1400" dirty="0"/>
          </a:p>
          <a:p>
            <a:pPr indent="0" marL="0">
              <a:buNone/>
            </a:pPr>
            <a:r>
              <a:rPr lang="en-US" sz="1100" dirty="0">
                <a:solidFill>
                  <a:srgbClr val="4A5A4F"/>
                </a:solidFill>
              </a:rPr>
              <a:t>600 Seeds</a:t>
            </a:r>
            <a:endParaRPr lang="en-US" sz="1400" dirty="0"/>
          </a:p>
        </p:txBody>
      </p:sp>
      <p:sp>
        <p:nvSpPr>
          <p:cNvPr id="16" name="rank Guardian"/>
          <p:cNvSpPr/>
          <p:nvPr/>
        </p:nvSpPr>
        <p:spPr>
          <a:xfrm>
            <a:off x="9966960" y="2514600"/>
            <a:ext cx="1554480" cy="566928"/>
          </a:xfrm>
          <a:prstGeom prst="roundRect">
            <a:avLst>
              <a:gd name="adj" fmla="val 2903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7" name="rank text 5"/>
          <p:cNvSpPr txBox="1"/>
          <p:nvPr/>
        </p:nvSpPr>
        <p:spPr>
          <a:xfrm>
            <a:off x="10104120" y="2569464"/>
            <a:ext cx="1325880" cy="475488"/>
          </a:xfrm>
          <a:prstGeom prst="rect">
            <a:avLst/>
          </a:prstGeom>
          <a:noFill/>
          <a:ln/>
        </p:spPr>
        <p:txBody>
          <a:bodyPr wrap="square" lIns="0" tIns="0" rIns="0" bIns="0" rtlCol="0" anchor="t"/>
          <a:lstStyle/>
          <a:p>
            <a:pPr indent="0" marL="0">
              <a:buNone/>
            </a:pPr>
            <a:r>
              <a:rPr lang="en-US" sz="1400" b="1" dirty="0">
                <a:solidFill>
                  <a:schemeClr val="tx1"/>
                </a:solidFill>
              </a:rPr>
              <a:t>Guardian</a:t>
            </a:r>
            <a:endParaRPr lang="en-US" sz="1400" dirty="0"/>
          </a:p>
          <a:p>
            <a:pPr indent="0" marL="0">
              <a:buNone/>
            </a:pPr>
            <a:r>
              <a:rPr lang="en-US" sz="1100" dirty="0">
                <a:solidFill>
                  <a:srgbClr val="4A5A4F"/>
                </a:solidFill>
              </a:rPr>
              <a:t>1,000 Seeds</a:t>
            </a:r>
            <a:endParaRPr lang="en-US" sz="1400" dirty="0"/>
          </a:p>
        </p:txBody>
      </p:sp>
      <p:sp>
        <p:nvSpPr>
          <p:cNvPr id="18" name="badges heading"/>
          <p:cNvSpPr txBox="1"/>
          <p:nvPr/>
        </p:nvSpPr>
        <p:spPr>
          <a:xfrm>
            <a:off x="6583680" y="3337560"/>
            <a:ext cx="5029200" cy="365760"/>
          </a:xfrm>
          <a:prstGeom prst="rect">
            <a:avLst/>
          </a:prstGeom>
          <a:noFill/>
          <a:ln/>
        </p:spPr>
        <p:txBody>
          <a:bodyPr wrap="square" lIns="0" tIns="0" rIns="0" bIns="0" rtlCol="0" anchor="t"/>
          <a:lstStyle/>
          <a:p>
            <a:pPr indent="0" marL="0">
              <a:buNone/>
            </a:pPr>
            <a:r>
              <a:rPr lang="en-US" sz="1700" b="1" dirty="0">
                <a:solidFill>
                  <a:schemeClr val="accent1"/>
                </a:solidFill>
              </a:rPr>
              <a:t>Starter badges</a:t>
            </a:r>
            <a:endParaRPr lang="en-US" sz="1700" dirty="0"/>
          </a:p>
        </p:txBody>
      </p:sp>
      <p:sp>
        <p:nvSpPr>
          <p:cNvPr id="19" name="badge Ranger"/>
          <p:cNvSpPr/>
          <p:nvPr/>
        </p:nvSpPr>
        <p:spPr>
          <a:xfrm>
            <a:off x="6583680" y="374904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0" name="badge text 0"/>
          <p:cNvSpPr txBox="1"/>
          <p:nvPr/>
        </p:nvSpPr>
        <p:spPr>
          <a:xfrm>
            <a:off x="6693408" y="3813048"/>
            <a:ext cx="1371600" cy="512064"/>
          </a:xfrm>
          <a:prstGeom prst="rect">
            <a:avLst/>
          </a:prstGeom>
          <a:noFill/>
          <a:ln/>
        </p:spPr>
        <p:txBody>
          <a:bodyPr wrap="square" lIns="0" tIns="0" rIns="0" bIns="0" rtlCol="0" anchor="t"/>
          <a:lstStyle/>
          <a:p>
            <a:pPr indent="0" marL="0">
              <a:buNone/>
            </a:pPr>
            <a:r>
              <a:rPr lang="en-US" sz="1300" b="1" dirty="0">
                <a:solidFill>
                  <a:schemeClr val="tx1"/>
                </a:solidFill>
              </a:rPr>
              <a:t>Ranger</a:t>
            </a:r>
            <a:endParaRPr lang="en-US" sz="1300" dirty="0"/>
          </a:p>
          <a:p>
            <a:pPr indent="0" marL="0">
              <a:buNone/>
            </a:pPr>
            <a:r>
              <a:rPr lang="en-US" sz="1000" dirty="0">
                <a:solidFill>
                  <a:srgbClr val="4A5A4F"/>
                </a:solidFill>
              </a:rPr>
              <a:t>Finished onboarding</a:t>
            </a:r>
            <a:endParaRPr lang="en-US" sz="1300" dirty="0"/>
          </a:p>
        </p:txBody>
      </p:sp>
      <p:sp>
        <p:nvSpPr>
          <p:cNvPr id="21" name="badge First Sprout"/>
          <p:cNvSpPr/>
          <p:nvPr/>
        </p:nvSpPr>
        <p:spPr>
          <a:xfrm>
            <a:off x="8275320" y="374904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2" name="badge text 1"/>
          <p:cNvSpPr txBox="1"/>
          <p:nvPr/>
        </p:nvSpPr>
        <p:spPr>
          <a:xfrm>
            <a:off x="8385048" y="3813048"/>
            <a:ext cx="1371600" cy="512064"/>
          </a:xfrm>
          <a:prstGeom prst="rect">
            <a:avLst/>
          </a:prstGeom>
          <a:noFill/>
          <a:ln/>
        </p:spPr>
        <p:txBody>
          <a:bodyPr wrap="square" lIns="0" tIns="0" rIns="0" bIns="0" rtlCol="0" anchor="t"/>
          <a:lstStyle/>
          <a:p>
            <a:pPr indent="0" marL="0">
              <a:buNone/>
            </a:pPr>
            <a:r>
              <a:rPr lang="en-US" sz="1300" b="1" dirty="0">
                <a:solidFill>
                  <a:schemeClr val="tx1"/>
                </a:solidFill>
              </a:rPr>
              <a:t>First Sprout</a:t>
            </a:r>
            <a:endParaRPr lang="en-US" sz="1300" dirty="0"/>
          </a:p>
          <a:p>
            <a:pPr indent="0" marL="0">
              <a:buNone/>
            </a:pPr>
            <a:r>
              <a:rPr lang="en-US" sz="1000" dirty="0">
                <a:solidFill>
                  <a:srgbClr val="4A5A4F"/>
                </a:solidFill>
              </a:rPr>
              <a:t>First approved quest</a:t>
            </a:r>
            <a:endParaRPr lang="en-US" sz="1300" dirty="0"/>
          </a:p>
        </p:txBody>
      </p:sp>
      <p:sp>
        <p:nvSpPr>
          <p:cNvPr id="23" name="badge Code Tracker"/>
          <p:cNvSpPr/>
          <p:nvPr/>
        </p:nvSpPr>
        <p:spPr>
          <a:xfrm>
            <a:off x="9966960" y="374904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4" name="badge text 2"/>
          <p:cNvSpPr txBox="1"/>
          <p:nvPr/>
        </p:nvSpPr>
        <p:spPr>
          <a:xfrm>
            <a:off x="10076688" y="3813048"/>
            <a:ext cx="1371600" cy="512064"/>
          </a:xfrm>
          <a:prstGeom prst="rect">
            <a:avLst/>
          </a:prstGeom>
          <a:noFill/>
          <a:ln/>
        </p:spPr>
        <p:txBody>
          <a:bodyPr wrap="square" lIns="0" tIns="0" rIns="0" bIns="0" rtlCol="0" anchor="t"/>
          <a:lstStyle/>
          <a:p>
            <a:pPr indent="0" marL="0">
              <a:buNone/>
            </a:pPr>
            <a:r>
              <a:rPr lang="en-US" sz="1300" b="1" dirty="0">
                <a:solidFill>
                  <a:schemeClr val="tx1"/>
                </a:solidFill>
              </a:rPr>
              <a:t>Code Tracker</a:t>
            </a:r>
            <a:endParaRPr lang="en-US" sz="1300" dirty="0"/>
          </a:p>
          <a:p>
            <a:pPr indent="0" marL="0">
              <a:buNone/>
            </a:pPr>
            <a:r>
              <a:rPr lang="en-US" sz="1000" dirty="0">
                <a:solidFill>
                  <a:srgbClr val="4A5A4F"/>
                </a:solidFill>
              </a:rPr>
              <a:t>3 Tech quests</a:t>
            </a:r>
            <a:endParaRPr lang="en-US" sz="1300" dirty="0"/>
          </a:p>
        </p:txBody>
      </p:sp>
      <p:sp>
        <p:nvSpPr>
          <p:cNvPr id="25" name="badge Field Runner"/>
          <p:cNvSpPr/>
          <p:nvPr/>
        </p:nvSpPr>
        <p:spPr>
          <a:xfrm>
            <a:off x="6583680" y="448056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6" name="badge text 3"/>
          <p:cNvSpPr txBox="1"/>
          <p:nvPr/>
        </p:nvSpPr>
        <p:spPr>
          <a:xfrm>
            <a:off x="6693408" y="4544568"/>
            <a:ext cx="1371600" cy="512064"/>
          </a:xfrm>
          <a:prstGeom prst="rect">
            <a:avLst/>
          </a:prstGeom>
          <a:noFill/>
          <a:ln/>
        </p:spPr>
        <p:txBody>
          <a:bodyPr wrap="square" lIns="0" tIns="0" rIns="0" bIns="0" rtlCol="0" anchor="t"/>
          <a:lstStyle/>
          <a:p>
            <a:pPr indent="0" marL="0">
              <a:buNone/>
            </a:pPr>
            <a:r>
              <a:rPr lang="en-US" sz="1300" b="1" dirty="0">
                <a:solidFill>
                  <a:schemeClr val="tx1"/>
                </a:solidFill>
              </a:rPr>
              <a:t>Field Runner</a:t>
            </a:r>
            <a:endParaRPr lang="en-US" sz="1300" dirty="0"/>
          </a:p>
          <a:p>
            <a:pPr indent="0" marL="0">
              <a:buNone/>
            </a:pPr>
            <a:r>
              <a:rPr lang="en-US" sz="1000" dirty="0">
                <a:solidFill>
                  <a:srgbClr val="4A5A4F"/>
                </a:solidFill>
              </a:rPr>
              <a:t>3 Sports quests</a:t>
            </a:r>
            <a:endParaRPr lang="en-US" sz="1300" dirty="0"/>
          </a:p>
        </p:txBody>
      </p:sp>
      <p:sp>
        <p:nvSpPr>
          <p:cNvPr id="27" name="badge Storyteller"/>
          <p:cNvSpPr/>
          <p:nvPr/>
        </p:nvSpPr>
        <p:spPr>
          <a:xfrm>
            <a:off x="8275320" y="448056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28" name="badge text 4"/>
          <p:cNvSpPr txBox="1"/>
          <p:nvPr/>
        </p:nvSpPr>
        <p:spPr>
          <a:xfrm>
            <a:off x="8385048" y="4544568"/>
            <a:ext cx="1371600" cy="512064"/>
          </a:xfrm>
          <a:prstGeom prst="rect">
            <a:avLst/>
          </a:prstGeom>
          <a:noFill/>
          <a:ln/>
        </p:spPr>
        <p:txBody>
          <a:bodyPr wrap="square" lIns="0" tIns="0" rIns="0" bIns="0" rtlCol="0" anchor="t"/>
          <a:lstStyle/>
          <a:p>
            <a:pPr indent="0" marL="0">
              <a:buNone/>
            </a:pPr>
            <a:r>
              <a:rPr lang="en-US" sz="1300" b="1" dirty="0">
                <a:solidFill>
                  <a:schemeClr val="tx1"/>
                </a:solidFill>
              </a:rPr>
              <a:t>Storyteller</a:t>
            </a:r>
            <a:endParaRPr lang="en-US" sz="1300" dirty="0"/>
          </a:p>
          <a:p>
            <a:pPr indent="0" marL="0">
              <a:buNone/>
            </a:pPr>
            <a:r>
              <a:rPr lang="en-US" sz="1000" dirty="0">
                <a:solidFill>
                  <a:srgbClr val="4A5A4F"/>
                </a:solidFill>
              </a:rPr>
              <a:t>3 Culture quests</a:t>
            </a:r>
            <a:endParaRPr lang="en-US" sz="1300" dirty="0"/>
          </a:p>
        </p:txBody>
      </p:sp>
      <p:sp>
        <p:nvSpPr>
          <p:cNvPr id="29" name="badge All-Rounder"/>
          <p:cNvSpPr/>
          <p:nvPr/>
        </p:nvSpPr>
        <p:spPr>
          <a:xfrm>
            <a:off x="9966960" y="448056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30" name="badge text 5"/>
          <p:cNvSpPr txBox="1"/>
          <p:nvPr/>
        </p:nvSpPr>
        <p:spPr>
          <a:xfrm>
            <a:off x="10076688" y="4544568"/>
            <a:ext cx="1371600" cy="512064"/>
          </a:xfrm>
          <a:prstGeom prst="rect">
            <a:avLst/>
          </a:prstGeom>
          <a:noFill/>
          <a:ln/>
        </p:spPr>
        <p:txBody>
          <a:bodyPr wrap="square" lIns="0" tIns="0" rIns="0" bIns="0" rtlCol="0" anchor="t"/>
          <a:lstStyle/>
          <a:p>
            <a:pPr indent="0" marL="0">
              <a:buNone/>
            </a:pPr>
            <a:r>
              <a:rPr lang="en-US" sz="1300" b="1" dirty="0">
                <a:solidFill>
                  <a:schemeClr val="tx1"/>
                </a:solidFill>
              </a:rPr>
              <a:t>All-Rounder</a:t>
            </a:r>
            <a:endParaRPr lang="en-US" sz="1300" dirty="0"/>
          </a:p>
          <a:p>
            <a:pPr indent="0" marL="0">
              <a:buNone/>
            </a:pPr>
            <a:r>
              <a:rPr lang="en-US" sz="1000" dirty="0">
                <a:solidFill>
                  <a:srgbClr val="4A5A4F"/>
                </a:solidFill>
              </a:rPr>
              <a:t>One in each track</a:t>
            </a:r>
            <a:endParaRPr lang="en-US" sz="1300" dirty="0"/>
          </a:p>
        </p:txBody>
      </p:sp>
      <p:sp>
        <p:nvSpPr>
          <p:cNvPr id="31" name="badge Streak Keeper"/>
          <p:cNvSpPr/>
          <p:nvPr/>
        </p:nvSpPr>
        <p:spPr>
          <a:xfrm>
            <a:off x="6583680" y="521208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32" name="badge text 6"/>
          <p:cNvSpPr txBox="1"/>
          <p:nvPr/>
        </p:nvSpPr>
        <p:spPr>
          <a:xfrm>
            <a:off x="6693408" y="5276088"/>
            <a:ext cx="1371600" cy="512064"/>
          </a:xfrm>
          <a:prstGeom prst="rect">
            <a:avLst/>
          </a:prstGeom>
          <a:noFill/>
          <a:ln/>
        </p:spPr>
        <p:txBody>
          <a:bodyPr wrap="square" lIns="0" tIns="0" rIns="0" bIns="0" rtlCol="0" anchor="t"/>
          <a:lstStyle/>
          <a:p>
            <a:pPr indent="0" marL="0">
              <a:buNone/>
            </a:pPr>
            <a:r>
              <a:rPr lang="en-US" sz="1300" b="1" dirty="0">
                <a:solidFill>
                  <a:schemeClr val="tx1"/>
                </a:solidFill>
              </a:rPr>
              <a:t>Streak Keeper</a:t>
            </a:r>
            <a:endParaRPr lang="en-US" sz="1300" dirty="0"/>
          </a:p>
          <a:p>
            <a:pPr indent="0" marL="0">
              <a:buNone/>
            </a:pPr>
            <a:r>
              <a:rPr lang="en-US" sz="1000" dirty="0">
                <a:solidFill>
                  <a:srgbClr val="4A5A4F"/>
                </a:solidFill>
              </a:rPr>
              <a:t>4 weeks in a row</a:t>
            </a:r>
            <a:endParaRPr lang="en-US" sz="1300" dirty="0"/>
          </a:p>
        </p:txBody>
      </p:sp>
      <p:sp>
        <p:nvSpPr>
          <p:cNvPr id="33" name="badge Guide"/>
          <p:cNvSpPr/>
          <p:nvPr/>
        </p:nvSpPr>
        <p:spPr>
          <a:xfrm>
            <a:off x="8275320" y="521208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34" name="badge text 7"/>
          <p:cNvSpPr txBox="1"/>
          <p:nvPr/>
        </p:nvSpPr>
        <p:spPr>
          <a:xfrm>
            <a:off x="8385048" y="5276088"/>
            <a:ext cx="1371600" cy="512064"/>
          </a:xfrm>
          <a:prstGeom prst="rect">
            <a:avLst/>
          </a:prstGeom>
          <a:noFill/>
          <a:ln/>
        </p:spPr>
        <p:txBody>
          <a:bodyPr wrap="square" lIns="0" tIns="0" rIns="0" bIns="0" rtlCol="0" anchor="t"/>
          <a:lstStyle/>
          <a:p>
            <a:pPr indent="0" marL="0">
              <a:buNone/>
            </a:pPr>
            <a:r>
              <a:rPr lang="en-US" sz="1300" b="1" dirty="0">
                <a:solidFill>
                  <a:schemeClr val="tx1"/>
                </a:solidFill>
              </a:rPr>
              <a:t>Guide</a:t>
            </a:r>
            <a:endParaRPr lang="en-US" sz="1300" dirty="0"/>
          </a:p>
          <a:p>
            <a:pPr indent="0" marL="0">
              <a:buNone/>
            </a:pPr>
            <a:r>
              <a:rPr lang="en-US" sz="1000" dirty="0">
                <a:solidFill>
                  <a:srgbClr val="4A5A4F"/>
                </a:solidFill>
              </a:rPr>
              <a:t>Brought a friend</a:t>
            </a:r>
            <a:endParaRPr lang="en-US" sz="1300" dirty="0"/>
          </a:p>
        </p:txBody>
      </p:sp>
      <p:sp>
        <p:nvSpPr>
          <p:cNvPr id="35" name="badge Legend"/>
          <p:cNvSpPr/>
          <p:nvPr/>
        </p:nvSpPr>
        <p:spPr>
          <a:xfrm>
            <a:off x="9966960" y="5212080"/>
            <a:ext cx="1554480" cy="621792"/>
          </a:xfrm>
          <a:prstGeom prst="roundRect">
            <a:avLst>
              <a:gd name="adj" fmla="val 26471"/>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36" name="badge text 8"/>
          <p:cNvSpPr txBox="1"/>
          <p:nvPr/>
        </p:nvSpPr>
        <p:spPr>
          <a:xfrm>
            <a:off x="10076688" y="5276088"/>
            <a:ext cx="1371600" cy="512064"/>
          </a:xfrm>
          <a:prstGeom prst="rect">
            <a:avLst/>
          </a:prstGeom>
          <a:noFill/>
          <a:ln/>
        </p:spPr>
        <p:txBody>
          <a:bodyPr wrap="square" lIns="0" tIns="0" rIns="0" bIns="0" rtlCol="0" anchor="t"/>
          <a:lstStyle/>
          <a:p>
            <a:pPr indent="0" marL="0">
              <a:buNone/>
            </a:pPr>
            <a:r>
              <a:rPr lang="en-US" sz="1300" b="1" dirty="0">
                <a:solidFill>
                  <a:schemeClr val="tx1"/>
                </a:solidFill>
              </a:rPr>
              <a:t>Legend</a:t>
            </a:r>
            <a:endParaRPr lang="en-US" sz="1300" dirty="0"/>
          </a:p>
          <a:p>
            <a:pPr indent="0" marL="0">
              <a:buNone/>
            </a:pPr>
            <a:r>
              <a:rPr lang="en-US" sz="1000" dirty="0">
                <a:solidFill>
                  <a:srgbClr val="4A5A4F"/>
                </a:solidFill>
              </a:rPr>
              <a:t>Top 3 for a season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 quiet forest is a visible nudge to come back</a:t>
            </a:r>
            <a:endParaRPr lang="en-US" sz="3400" dirty="0"/>
          </a:p>
        </p:txBody>
      </p:sp>
      <p:sp>
        <p:nvSpPr>
          <p:cNvPr id="3" name="Wilting Namdapha forest frame"/>
          <p:cNvSpPr/>
          <p:nvPr/>
        </p:nvSpPr>
        <p:spPr>
          <a:xfrm>
            <a:off x="548640" y="1435608"/>
            <a:ext cx="5495544" cy="2889504"/>
          </a:xfrm>
          <a:prstGeom prst="roundRect">
            <a:avLst>
              <a:gd name="adj" fmla="val 5696"/>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4" name="Wilting Namdapha forest" descr="Namdapha forest faded to grey with a banner saying the forest needs rangers">    </p:cNvPr>
          <p:cNvPicPr>
            <a:picLocks noChangeAspect="1"/>
          </p:cNvPicPr>
          <p:nvPr/>
        </p:nvPicPr>
        <p:blipFill>
          <a:blip r:embed="rId1"/>
          <a:srcRect l="0" r="0" t="0" b="0"/>
          <a:stretch/>
        </p:blipFill>
        <p:spPr>
          <a:xfrm>
            <a:off x="621792" y="1508760"/>
            <a:ext cx="5349240" cy="2743200"/>
          </a:xfrm>
          <a:prstGeom prst="rect">
            <a:avLst/>
          </a:prstGeom>
        </p:spPr>
      </p:pic>
      <p:sp>
        <p:nvSpPr>
          <p:cNvPr id="5" name="Thriving Kaziranga forest frame"/>
          <p:cNvSpPr/>
          <p:nvPr/>
        </p:nvSpPr>
        <p:spPr>
          <a:xfrm>
            <a:off x="6144768" y="1435608"/>
            <a:ext cx="5495544" cy="2889504"/>
          </a:xfrm>
          <a:prstGeom prst="roundRect">
            <a:avLst>
              <a:gd name="adj" fmla="val 5696"/>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6" name="Thriving Kaziranga forest" descr="Kaziranga forest in full colour with many trees">    </p:cNvPr>
          <p:cNvPicPr>
            <a:picLocks noChangeAspect="1"/>
          </p:cNvPicPr>
          <p:nvPr/>
        </p:nvPicPr>
        <p:blipFill>
          <a:blip r:embed="rId2"/>
          <a:srcRect l="0" r="0" t="0" b="0"/>
          <a:stretch/>
        </p:blipFill>
        <p:spPr>
          <a:xfrm>
            <a:off x="6217920" y="1508760"/>
            <a:ext cx="5349240" cy="2743200"/>
          </a:xfrm>
          <a:prstGeom prst="rect">
            <a:avLst/>
          </a:prstGeom>
        </p:spPr>
      </p:pic>
      <p:sp>
        <p:nvSpPr>
          <p:cNvPr id="7" name="wilting caption"/>
          <p:cNvSpPr txBox="1"/>
          <p:nvPr/>
        </p:nvSpPr>
        <p:spPr>
          <a:xfrm>
            <a:off x="621792" y="4389120"/>
            <a:ext cx="5349240" cy="548640"/>
          </a:xfrm>
          <a:prstGeom prst="rect">
            <a:avLst/>
          </a:prstGeom>
          <a:noFill/>
          <a:ln/>
        </p:spPr>
        <p:txBody>
          <a:bodyPr wrap="square" lIns="0" tIns="0" rIns="0" bIns="0" rtlCol="0" anchor="t"/>
          <a:lstStyle/>
          <a:p>
            <a:pPr indent="0" marL="0">
              <a:buNone/>
            </a:pPr>
            <a:r>
              <a:rPr lang="en-US" sz="1400" b="1" dirty="0">
                <a:solidFill>
                  <a:srgbClr val="B5402E"/>
                </a:solidFill>
              </a:rPr>
              <a:t>Quiet for 20 days: </a:t>
            </a:r>
            <a:pPr indent="0" marL="0">
              <a:buNone/>
            </a:pPr>
            <a:r>
              <a:rPr lang="en-US" sz="1400" dirty="0">
                <a:solidFill>
                  <a:schemeClr val="tx1"/>
                </a:solidFill>
              </a:rPr>
              <a:t>Namdapha's colours fade and a “needs rangers!” banner appears.</a:t>
            </a:r>
            <a:endParaRPr lang="en-US" sz="1400" dirty="0"/>
          </a:p>
        </p:txBody>
      </p:sp>
      <p:sp>
        <p:nvSpPr>
          <p:cNvPr id="8" name="lush caption"/>
          <p:cNvSpPr txBox="1"/>
          <p:nvPr/>
        </p:nvSpPr>
        <p:spPr>
          <a:xfrm>
            <a:off x="6217920" y="4389120"/>
            <a:ext cx="5349240" cy="548640"/>
          </a:xfrm>
          <a:prstGeom prst="rect">
            <a:avLst/>
          </a:prstGeom>
          <a:noFill/>
          <a:ln/>
        </p:spPr>
        <p:txBody>
          <a:bodyPr wrap="square" lIns="0" tIns="0" rIns="0" bIns="0" rtlCol="0" anchor="t"/>
          <a:lstStyle/>
          <a:p>
            <a:pPr indent="0" marL="0">
              <a:buNone/>
            </a:pPr>
            <a:r>
              <a:rPr lang="en-US" sz="1400" b="1" dirty="0">
                <a:solidFill>
                  <a:schemeClr val="accent1"/>
                </a:solidFill>
              </a:rPr>
              <a:t>Active this week: </a:t>
            </a:r>
            <a:pPr indent="0" marL="0">
              <a:buNone/>
            </a:pPr>
            <a:r>
              <a:rPr lang="en-US" sz="1400" dirty="0">
                <a:solidFill>
                  <a:schemeClr val="tx1"/>
                </a:solidFill>
              </a:rPr>
              <a:t>Kaziranga stays lush and keeps growing toward its rhinos.</a:t>
            </a:r>
            <a:endParaRPr lang="en-US" sz="1400" dirty="0"/>
          </a:p>
        </p:txBody>
      </p:sp>
      <p:sp>
        <p:nvSpPr>
          <p:cNvPr id="9" name="drift rules card"/>
          <p:cNvSpPr/>
          <p:nvPr/>
        </p:nvSpPr>
        <p:spPr>
          <a:xfrm>
            <a:off x="548640" y="5120640"/>
            <a:ext cx="11082528" cy="914400"/>
          </a:xfrm>
          <a:prstGeom prst="roundRect">
            <a:avLst>
              <a:gd name="adj" fmla="val 18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0" name="drift 1 circle"/>
          <p:cNvSpPr/>
          <p:nvPr/>
        </p:nvSpPr>
        <p:spPr>
          <a:xfrm>
            <a:off x="777240" y="5285232"/>
            <a:ext cx="548640" cy="548640"/>
          </a:xfrm>
          <a:prstGeom prst="ellipse">
            <a:avLst/>
          </a:prstGeom>
          <a:solidFill>
            <a:srgbClr val="B5402E"/>
          </a:solidFill>
          <a:ln w="19050">
            <a:solidFill>
              <a:schemeClr val="bg1"/>
            </a:solidFill>
            <a:prstDash val="solid"/>
          </a:ln>
        </p:spPr>
      </p:sp>
      <p:pic>
        <p:nvPicPr>
          <p:cNvPr id="11" name="drift 1 icon" descr="preencoded.png">    </p:cNvPr>
          <p:cNvPicPr>
            <a:picLocks noChangeAspect="1"/>
          </p:cNvPicPr>
          <p:nvPr/>
        </p:nvPicPr>
        <p:blipFill>
          <a:blip r:embed="rId3"/>
          <a:stretch>
            <a:fillRect/>
          </a:stretch>
        </p:blipFill>
        <p:spPr>
          <a:xfrm>
            <a:off x="908914" y="5416906"/>
            <a:ext cx="285293" cy="285293"/>
          </a:xfrm>
          <a:prstGeom prst="rect">
            <a:avLst/>
          </a:prstGeom>
        </p:spPr>
      </p:pic>
      <p:sp>
        <p:nvSpPr>
          <p:cNvPr id="12" name="drift text 1"/>
          <p:cNvSpPr txBox="1"/>
          <p:nvPr/>
        </p:nvSpPr>
        <p:spPr>
          <a:xfrm>
            <a:off x="1463040" y="5285232"/>
            <a:ext cx="2834640" cy="548640"/>
          </a:xfrm>
          <a:prstGeom prst="rect">
            <a:avLst/>
          </a:prstGeom>
          <a:noFill/>
          <a:ln/>
        </p:spPr>
        <p:txBody>
          <a:bodyPr wrap="square" lIns="0" tIns="0" rIns="0" bIns="0" rtlCol="0" anchor="ctr"/>
          <a:lstStyle/>
          <a:p>
            <a:pPr indent="0" marL="0">
              <a:buNone/>
            </a:pPr>
            <a:r>
              <a:rPr lang="en-US" sz="1500" b="1" dirty="0">
                <a:solidFill>
                  <a:schemeClr val="tx1"/>
                </a:solidFill>
              </a:rPr>
              <a:t>7 quiet days and the forest wilts</a:t>
            </a:r>
            <a:endParaRPr lang="en-US" sz="1500" dirty="0"/>
          </a:p>
        </p:txBody>
      </p:sp>
      <p:sp>
        <p:nvSpPr>
          <p:cNvPr id="13" name="drift 2 circle"/>
          <p:cNvSpPr/>
          <p:nvPr/>
        </p:nvSpPr>
        <p:spPr>
          <a:xfrm>
            <a:off x="4434840" y="5285232"/>
            <a:ext cx="548640" cy="548640"/>
          </a:xfrm>
          <a:prstGeom prst="ellipse">
            <a:avLst/>
          </a:prstGeom>
          <a:solidFill>
            <a:schemeClr val="accent1"/>
          </a:solidFill>
          <a:ln w="19050">
            <a:solidFill>
              <a:schemeClr val="bg1"/>
            </a:solidFill>
            <a:prstDash val="solid"/>
          </a:ln>
        </p:spPr>
      </p:sp>
      <p:pic>
        <p:nvPicPr>
          <p:cNvPr id="14" name="drift 2 icon" descr="preencoded.png">    </p:cNvPr>
          <p:cNvPicPr>
            <a:picLocks noChangeAspect="1"/>
          </p:cNvPicPr>
          <p:nvPr/>
        </p:nvPicPr>
        <p:blipFill>
          <a:blip r:embed="rId4"/>
          <a:stretch>
            <a:fillRect/>
          </a:stretch>
        </p:blipFill>
        <p:spPr>
          <a:xfrm>
            <a:off x="4566514" y="5416906"/>
            <a:ext cx="285293" cy="285293"/>
          </a:xfrm>
          <a:prstGeom prst="rect">
            <a:avLst/>
          </a:prstGeom>
        </p:spPr>
      </p:pic>
      <p:sp>
        <p:nvSpPr>
          <p:cNvPr id="15" name="drift text 2"/>
          <p:cNvSpPr txBox="1"/>
          <p:nvPr/>
        </p:nvSpPr>
        <p:spPr>
          <a:xfrm>
            <a:off x="5120640" y="5285232"/>
            <a:ext cx="2834640" cy="548640"/>
          </a:xfrm>
          <a:prstGeom prst="rect">
            <a:avLst/>
          </a:prstGeom>
          <a:noFill/>
          <a:ln/>
        </p:spPr>
        <p:txBody>
          <a:bodyPr wrap="square" lIns="0" tIns="0" rIns="0" bIns="0" rtlCol="0" anchor="ctr"/>
          <a:lstStyle/>
          <a:p>
            <a:pPr indent="0" marL="0">
              <a:buNone/>
            </a:pPr>
            <a:r>
              <a:rPr lang="en-US" sz="1500" b="1" dirty="0">
                <a:solidFill>
                  <a:schemeClr val="tx1"/>
                </a:solidFill>
              </a:rPr>
              <a:t>One approved quest brings the colour back</a:t>
            </a:r>
            <a:endParaRPr lang="en-US" sz="1500" dirty="0"/>
          </a:p>
        </p:txBody>
      </p:sp>
      <p:sp>
        <p:nvSpPr>
          <p:cNvPr id="16" name="drift 3 circle"/>
          <p:cNvSpPr/>
          <p:nvPr/>
        </p:nvSpPr>
        <p:spPr>
          <a:xfrm>
            <a:off x="8092440" y="5285232"/>
            <a:ext cx="548640" cy="548640"/>
          </a:xfrm>
          <a:prstGeom prst="ellipse">
            <a:avLst/>
          </a:prstGeom>
          <a:solidFill>
            <a:schemeClr val="accent1"/>
          </a:solidFill>
          <a:ln w="19050">
            <a:solidFill>
              <a:schemeClr val="bg1"/>
            </a:solidFill>
            <a:prstDash val="solid"/>
          </a:ln>
        </p:spPr>
      </p:sp>
      <p:pic>
        <p:nvPicPr>
          <p:cNvPr id="17" name="drift 3 icon" descr="preencoded.png">    </p:cNvPr>
          <p:cNvPicPr>
            <a:picLocks noChangeAspect="1"/>
          </p:cNvPicPr>
          <p:nvPr/>
        </p:nvPicPr>
        <p:blipFill>
          <a:blip r:embed="rId5"/>
          <a:stretch>
            <a:fillRect/>
          </a:stretch>
        </p:blipFill>
        <p:spPr>
          <a:xfrm>
            <a:off x="8224114" y="5416906"/>
            <a:ext cx="285293" cy="285293"/>
          </a:xfrm>
          <a:prstGeom prst="rect">
            <a:avLst/>
          </a:prstGeom>
        </p:spPr>
      </p:pic>
      <p:sp>
        <p:nvSpPr>
          <p:cNvPr id="18" name="drift text 3"/>
          <p:cNvSpPr txBox="1"/>
          <p:nvPr/>
        </p:nvSpPr>
        <p:spPr>
          <a:xfrm>
            <a:off x="8778240" y="5285232"/>
            <a:ext cx="2834640" cy="548640"/>
          </a:xfrm>
          <a:prstGeom prst="rect">
            <a:avLst/>
          </a:prstGeom>
          <a:noFill/>
          <a:ln/>
        </p:spPr>
        <p:txBody>
          <a:bodyPr wrap="square" lIns="0" tIns="0" rIns="0" bIns="0" rtlCol="0" anchor="ctr"/>
          <a:lstStyle/>
          <a:p>
            <a:pPr indent="0" marL="0">
              <a:buNone/>
            </a:pPr>
            <a:r>
              <a:rPr lang="en-US" sz="1500" b="1" dirty="0">
                <a:solidFill>
                  <a:schemeClr val="tx1"/>
                </a:solidFill>
              </a:rPr>
              <a:t>Nothing is deleted: it's only a nudge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Habitat Card: a portfolio students want to share</a:t>
            </a:r>
            <a:endParaRPr lang="en-US" sz="3400" dirty="0"/>
          </a:p>
        </p:txBody>
      </p:sp>
      <p:sp>
        <p:nvSpPr>
          <p:cNvPr id="3" name="Habitat Card screenshot frame"/>
          <p:cNvSpPr/>
          <p:nvPr/>
        </p:nvSpPr>
        <p:spPr>
          <a:xfrm>
            <a:off x="548640" y="1481328"/>
            <a:ext cx="6729984" cy="3849624"/>
          </a:xfrm>
          <a:prstGeom prst="roundRect">
            <a:avLst>
              <a:gd name="adj" fmla="val 4276"/>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4" name="Habitat Card screenshot" descr="A member's Habitat Card with rank, badges, a track chart and a mini map of their trees">    </p:cNvPr>
          <p:cNvPicPr>
            <a:picLocks noChangeAspect="1"/>
          </p:cNvPicPr>
          <p:nvPr/>
        </p:nvPicPr>
        <p:blipFill>
          <a:blip r:embed="rId1"/>
          <a:srcRect l="0" r="0" t="0" b="0"/>
          <a:stretch/>
        </p:blipFill>
        <p:spPr>
          <a:xfrm>
            <a:off x="621792" y="1554480"/>
            <a:ext cx="6583680" cy="3703320"/>
          </a:xfrm>
          <a:prstGeom prst="rect">
            <a:avLst/>
          </a:prstGeom>
        </p:spPr>
      </p:pic>
      <p:sp>
        <p:nvSpPr>
          <p:cNvPr id="5" name="habitat 1 circle"/>
          <p:cNvSpPr/>
          <p:nvPr/>
        </p:nvSpPr>
        <p:spPr>
          <a:xfrm>
            <a:off x="7635240" y="1600200"/>
            <a:ext cx="594360" cy="594360"/>
          </a:xfrm>
          <a:prstGeom prst="ellipse">
            <a:avLst/>
          </a:prstGeom>
          <a:solidFill>
            <a:schemeClr val="accent6"/>
          </a:solidFill>
          <a:ln w="19050">
            <a:solidFill>
              <a:schemeClr val="bg1"/>
            </a:solidFill>
            <a:prstDash val="solid"/>
          </a:ln>
        </p:spPr>
      </p:sp>
      <p:pic>
        <p:nvPicPr>
          <p:cNvPr id="6" name="habitat 1 icon" descr="preencoded.png">    </p:cNvPr>
          <p:cNvPicPr>
            <a:picLocks noChangeAspect="1"/>
          </p:cNvPicPr>
          <p:nvPr/>
        </p:nvPicPr>
        <p:blipFill>
          <a:blip r:embed="rId2"/>
          <a:stretch>
            <a:fillRect/>
          </a:stretch>
        </p:blipFill>
        <p:spPr>
          <a:xfrm>
            <a:off x="7777886" y="1742846"/>
            <a:ext cx="309067" cy="309067"/>
          </a:xfrm>
          <a:prstGeom prst="rect">
            <a:avLst/>
          </a:prstGeom>
        </p:spPr>
      </p:pic>
      <p:sp>
        <p:nvSpPr>
          <p:cNvPr id="7" name="habitat title 1"/>
          <p:cNvSpPr txBox="1"/>
          <p:nvPr/>
        </p:nvSpPr>
        <p:spPr>
          <a:xfrm>
            <a:off x="8412480" y="1581912"/>
            <a:ext cx="3200400" cy="347472"/>
          </a:xfrm>
          <a:prstGeom prst="rect">
            <a:avLst/>
          </a:prstGeom>
          <a:noFill/>
          <a:ln/>
        </p:spPr>
        <p:txBody>
          <a:bodyPr wrap="square" lIns="0" tIns="0" rIns="0" bIns="0" rtlCol="0" anchor="t"/>
          <a:lstStyle/>
          <a:p>
            <a:pPr indent="0" marL="0">
              <a:buNone/>
            </a:pPr>
            <a:r>
              <a:rPr lang="en-US" sz="1700" b="1" dirty="0">
                <a:solidFill>
                  <a:schemeClr val="tx1"/>
                </a:solidFill>
              </a:rPr>
              <a:t>Rank title and badges</a:t>
            </a:r>
            <a:endParaRPr lang="en-US" sz="1700" dirty="0"/>
          </a:p>
        </p:txBody>
      </p:sp>
      <p:sp>
        <p:nvSpPr>
          <p:cNvPr id="8" name="habitat body 1"/>
          <p:cNvSpPr txBox="1"/>
          <p:nvPr/>
        </p:nvSpPr>
        <p:spPr>
          <a:xfrm>
            <a:off x="8412480" y="1929384"/>
            <a:ext cx="3200400" cy="548640"/>
          </a:xfrm>
          <a:prstGeom prst="rect">
            <a:avLst/>
          </a:prstGeom>
          <a:noFill/>
          <a:ln/>
        </p:spPr>
        <p:txBody>
          <a:bodyPr wrap="square" lIns="0" tIns="0" rIns="0" bIns="0" rtlCol="0" anchor="t"/>
          <a:lstStyle/>
          <a:p>
            <a:pPr indent="0" marL="0">
              <a:buNone/>
            </a:pPr>
            <a:r>
              <a:rPr lang="en-US" sz="1400" dirty="0">
                <a:solidFill>
                  <a:srgbClr val="4A5A4F"/>
                </a:solidFill>
              </a:rPr>
              <a:t>From Seedling to Guardian of the Wild.</a:t>
            </a:r>
            <a:endParaRPr lang="en-US" sz="1400" dirty="0"/>
          </a:p>
        </p:txBody>
      </p:sp>
      <p:sp>
        <p:nvSpPr>
          <p:cNvPr id="9" name="habitat 2 circle"/>
          <p:cNvSpPr/>
          <p:nvPr/>
        </p:nvSpPr>
        <p:spPr>
          <a:xfrm>
            <a:off x="7635240" y="2587752"/>
            <a:ext cx="594360" cy="594360"/>
          </a:xfrm>
          <a:prstGeom prst="ellipse">
            <a:avLst/>
          </a:prstGeom>
          <a:solidFill>
            <a:schemeClr val="accent6"/>
          </a:solidFill>
          <a:ln w="19050">
            <a:solidFill>
              <a:schemeClr val="bg1"/>
            </a:solidFill>
            <a:prstDash val="solid"/>
          </a:ln>
        </p:spPr>
      </p:sp>
      <p:pic>
        <p:nvPicPr>
          <p:cNvPr id="10" name="habitat 2 icon" descr="preencoded.png">    </p:cNvPr>
          <p:cNvPicPr>
            <a:picLocks noChangeAspect="1"/>
          </p:cNvPicPr>
          <p:nvPr/>
        </p:nvPicPr>
        <p:blipFill>
          <a:blip r:embed="rId3"/>
          <a:stretch>
            <a:fillRect/>
          </a:stretch>
        </p:blipFill>
        <p:spPr>
          <a:xfrm>
            <a:off x="7777886" y="2730398"/>
            <a:ext cx="309067" cy="309067"/>
          </a:xfrm>
          <a:prstGeom prst="rect">
            <a:avLst/>
          </a:prstGeom>
        </p:spPr>
      </p:pic>
      <p:sp>
        <p:nvSpPr>
          <p:cNvPr id="11" name="habitat title 2"/>
          <p:cNvSpPr txBox="1"/>
          <p:nvPr/>
        </p:nvSpPr>
        <p:spPr>
          <a:xfrm>
            <a:off x="8412480" y="2569464"/>
            <a:ext cx="3200400" cy="347472"/>
          </a:xfrm>
          <a:prstGeom prst="rect">
            <a:avLst/>
          </a:prstGeom>
          <a:noFill/>
          <a:ln/>
        </p:spPr>
        <p:txBody>
          <a:bodyPr wrap="square" lIns="0" tIns="0" rIns="0" bIns="0" rtlCol="0" anchor="t"/>
          <a:lstStyle/>
          <a:p>
            <a:pPr indent="0" marL="0">
              <a:buNone/>
            </a:pPr>
            <a:r>
              <a:rPr lang="en-US" sz="1700" b="1" dirty="0">
                <a:solidFill>
                  <a:schemeClr val="tx1"/>
                </a:solidFill>
              </a:rPr>
              <a:t>Tech · Sports · Culture</a:t>
            </a:r>
            <a:endParaRPr lang="en-US" sz="1700" dirty="0"/>
          </a:p>
        </p:txBody>
      </p:sp>
      <p:sp>
        <p:nvSpPr>
          <p:cNvPr id="12" name="habitat body 2"/>
          <p:cNvSpPr txBox="1"/>
          <p:nvPr/>
        </p:nvSpPr>
        <p:spPr>
          <a:xfrm>
            <a:off x="8412480" y="2916936"/>
            <a:ext cx="3200400" cy="548640"/>
          </a:xfrm>
          <a:prstGeom prst="rect">
            <a:avLst/>
          </a:prstGeom>
          <a:noFill/>
          <a:ln/>
        </p:spPr>
        <p:txBody>
          <a:bodyPr wrap="square" lIns="0" tIns="0" rIns="0" bIns="0" rtlCol="0" anchor="t"/>
          <a:lstStyle/>
          <a:p>
            <a:pPr indent="0" marL="0">
              <a:buNone/>
            </a:pPr>
            <a:r>
              <a:rPr lang="en-US" sz="1400" dirty="0">
                <a:solidFill>
                  <a:srgbClr val="4A5A4F"/>
                </a:solidFill>
              </a:rPr>
              <a:t>A three-colour chart of every contribution.</a:t>
            </a:r>
            <a:endParaRPr lang="en-US" sz="1400" dirty="0"/>
          </a:p>
        </p:txBody>
      </p:sp>
      <p:sp>
        <p:nvSpPr>
          <p:cNvPr id="13" name="habitat 3 circle"/>
          <p:cNvSpPr/>
          <p:nvPr/>
        </p:nvSpPr>
        <p:spPr>
          <a:xfrm>
            <a:off x="7635240" y="3575304"/>
            <a:ext cx="594360" cy="594360"/>
          </a:xfrm>
          <a:prstGeom prst="ellipse">
            <a:avLst/>
          </a:prstGeom>
          <a:solidFill>
            <a:schemeClr val="accent6"/>
          </a:solidFill>
          <a:ln w="19050">
            <a:solidFill>
              <a:schemeClr val="bg1"/>
            </a:solidFill>
            <a:prstDash val="solid"/>
          </a:ln>
        </p:spPr>
      </p:sp>
      <p:pic>
        <p:nvPicPr>
          <p:cNvPr id="14" name="habitat 3 icon" descr="preencoded.png">    </p:cNvPr>
          <p:cNvPicPr>
            <a:picLocks noChangeAspect="1"/>
          </p:cNvPicPr>
          <p:nvPr/>
        </p:nvPicPr>
        <p:blipFill>
          <a:blip r:embed="rId4"/>
          <a:stretch>
            <a:fillRect/>
          </a:stretch>
        </p:blipFill>
        <p:spPr>
          <a:xfrm>
            <a:off x="7777886" y="3717950"/>
            <a:ext cx="309067" cy="309067"/>
          </a:xfrm>
          <a:prstGeom prst="rect">
            <a:avLst/>
          </a:prstGeom>
        </p:spPr>
      </p:pic>
      <p:sp>
        <p:nvSpPr>
          <p:cNvPr id="15" name="habitat title 3"/>
          <p:cNvSpPr txBox="1"/>
          <p:nvPr/>
        </p:nvSpPr>
        <p:spPr>
          <a:xfrm>
            <a:off x="8412480" y="3557016"/>
            <a:ext cx="3200400" cy="347472"/>
          </a:xfrm>
          <a:prstGeom prst="rect">
            <a:avLst/>
          </a:prstGeom>
          <a:noFill/>
          <a:ln/>
        </p:spPr>
        <p:txBody>
          <a:bodyPr wrap="square" lIns="0" tIns="0" rIns="0" bIns="0" rtlCol="0" anchor="t"/>
          <a:lstStyle/>
          <a:p>
            <a:pPr indent="0" marL="0">
              <a:buNone/>
            </a:pPr>
            <a:r>
              <a:rPr lang="en-US" sz="1700" b="1" dirty="0">
                <a:solidFill>
                  <a:schemeClr val="tx1"/>
                </a:solidFill>
              </a:rPr>
              <a:t>Their own mini forest</a:t>
            </a:r>
            <a:endParaRPr lang="en-US" sz="1700" dirty="0"/>
          </a:p>
        </p:txBody>
      </p:sp>
      <p:sp>
        <p:nvSpPr>
          <p:cNvPr id="16" name="habitat body 3"/>
          <p:cNvSpPr txBox="1"/>
          <p:nvPr/>
        </p:nvSpPr>
        <p:spPr>
          <a:xfrm>
            <a:off x="8412480" y="3904488"/>
            <a:ext cx="3200400" cy="548640"/>
          </a:xfrm>
          <a:prstGeom prst="rect">
            <a:avLst/>
          </a:prstGeom>
          <a:noFill/>
          <a:ln/>
        </p:spPr>
        <p:txBody>
          <a:bodyPr wrap="square" lIns="0" tIns="0" rIns="0" bIns="0" rtlCol="0" anchor="t"/>
          <a:lstStyle/>
          <a:p>
            <a:pPr indent="0" marL="0">
              <a:buNone/>
            </a:pPr>
            <a:r>
              <a:rPr lang="en-US" sz="1400" dirty="0">
                <a:solidFill>
                  <a:srgbClr val="4A5A4F"/>
                </a:solidFill>
              </a:rPr>
              <a:t>Every tree they planted, with the quest it came from.</a:t>
            </a:r>
            <a:endParaRPr lang="en-US" sz="1400" dirty="0"/>
          </a:p>
        </p:txBody>
      </p:sp>
      <p:sp>
        <p:nvSpPr>
          <p:cNvPr id="17" name="habitat 4 circle"/>
          <p:cNvSpPr/>
          <p:nvPr/>
        </p:nvSpPr>
        <p:spPr>
          <a:xfrm>
            <a:off x="7635240" y="4562856"/>
            <a:ext cx="594360" cy="594360"/>
          </a:xfrm>
          <a:prstGeom prst="ellipse">
            <a:avLst/>
          </a:prstGeom>
          <a:solidFill>
            <a:schemeClr val="accent6"/>
          </a:solidFill>
          <a:ln w="19050">
            <a:solidFill>
              <a:schemeClr val="bg1"/>
            </a:solidFill>
            <a:prstDash val="solid"/>
          </a:ln>
        </p:spPr>
      </p:sp>
      <p:pic>
        <p:nvPicPr>
          <p:cNvPr id="18" name="habitat 4 icon" descr="preencoded.png">    </p:cNvPr>
          <p:cNvPicPr>
            <a:picLocks noChangeAspect="1"/>
          </p:cNvPicPr>
          <p:nvPr/>
        </p:nvPicPr>
        <p:blipFill>
          <a:blip r:embed="rId5"/>
          <a:stretch>
            <a:fillRect/>
          </a:stretch>
        </p:blipFill>
        <p:spPr>
          <a:xfrm>
            <a:off x="7777886" y="4705502"/>
            <a:ext cx="309067" cy="309067"/>
          </a:xfrm>
          <a:prstGeom prst="rect">
            <a:avLst/>
          </a:prstGeom>
        </p:spPr>
      </p:pic>
      <p:sp>
        <p:nvSpPr>
          <p:cNvPr id="19" name="habitat title 4"/>
          <p:cNvSpPr txBox="1"/>
          <p:nvPr/>
        </p:nvSpPr>
        <p:spPr>
          <a:xfrm>
            <a:off x="8412480" y="4544568"/>
            <a:ext cx="3200400" cy="347472"/>
          </a:xfrm>
          <a:prstGeom prst="rect">
            <a:avLst/>
          </a:prstGeom>
          <a:noFill/>
          <a:ln/>
        </p:spPr>
        <p:txBody>
          <a:bodyPr wrap="square" lIns="0" tIns="0" rIns="0" bIns="0" rtlCol="0" anchor="t"/>
          <a:lstStyle/>
          <a:p>
            <a:pPr indent="0" marL="0">
              <a:buNone/>
            </a:pPr>
            <a:r>
              <a:rPr lang="en-US" sz="1700" b="1" dirty="0">
                <a:solidFill>
                  <a:schemeClr val="tx1"/>
                </a:solidFill>
              </a:rPr>
              <a:t>One-tap sharing</a:t>
            </a:r>
            <a:endParaRPr lang="en-US" sz="1700" dirty="0"/>
          </a:p>
        </p:txBody>
      </p:sp>
      <p:sp>
        <p:nvSpPr>
          <p:cNvPr id="20" name="habitat body 4"/>
          <p:cNvSpPr txBox="1"/>
          <p:nvPr/>
        </p:nvSpPr>
        <p:spPr>
          <a:xfrm>
            <a:off x="8412480" y="4892040"/>
            <a:ext cx="3200400" cy="548640"/>
          </a:xfrm>
          <a:prstGeom prst="rect">
            <a:avLst/>
          </a:prstGeom>
          <a:noFill/>
          <a:ln/>
        </p:spPr>
        <p:txBody>
          <a:bodyPr wrap="square" lIns="0" tIns="0" rIns="0" bIns="0" rtlCol="0" anchor="t"/>
          <a:lstStyle/>
          <a:p>
            <a:pPr indent="0" marL="0">
              <a:buNone/>
            </a:pPr>
            <a:r>
              <a:rPr lang="en-US" sz="1400" dirty="0">
                <a:solidFill>
                  <a:srgbClr val="4A5A4F"/>
                </a:solidFill>
              </a:rPr>
              <a:t>A public link, ready for LinkedIn.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Admin Control Room: run it all from a phone, no code</a:t>
            </a:r>
            <a:endParaRPr lang="en-US" sz="3400" dirty="0"/>
          </a:p>
        </p:txBody>
      </p:sp>
      <p:sp>
        <p:nvSpPr>
          <p:cNvPr id="3" name="Admin overview screenshot frame"/>
          <p:cNvSpPr/>
          <p:nvPr/>
        </p:nvSpPr>
        <p:spPr>
          <a:xfrm>
            <a:off x="548640" y="1481328"/>
            <a:ext cx="6729984" cy="3849624"/>
          </a:xfrm>
          <a:prstGeom prst="roundRect">
            <a:avLst>
              <a:gd name="adj" fmla="val 4276"/>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4" name="Admin overview screenshot" descr="Admin overview with active members, pending approvals, Seeds per house and members going quiet">    </p:cNvPr>
          <p:cNvPicPr>
            <a:picLocks noChangeAspect="1"/>
          </p:cNvPicPr>
          <p:nvPr/>
        </p:nvPicPr>
        <p:blipFill>
          <a:blip r:embed="rId1"/>
          <a:srcRect l="0" r="0" t="0" b="0"/>
          <a:stretch/>
        </p:blipFill>
        <p:spPr>
          <a:xfrm>
            <a:off x="621792" y="1554480"/>
            <a:ext cx="6583680" cy="3703320"/>
          </a:xfrm>
          <a:prstGeom prst="rect">
            <a:avLst/>
          </a:prstGeom>
        </p:spPr>
      </p:pic>
      <p:sp>
        <p:nvSpPr>
          <p:cNvPr id="5" name="admin list card"/>
          <p:cNvSpPr/>
          <p:nvPr/>
        </p:nvSpPr>
        <p:spPr>
          <a:xfrm>
            <a:off x="7498080" y="1481328"/>
            <a:ext cx="4133088" cy="4526280"/>
          </a:xfrm>
          <a:prstGeom prst="roundRect">
            <a:avLst>
              <a:gd name="adj" fmla="val 3982"/>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6" name="admin item 1"/>
          <p:cNvSpPr txBox="1"/>
          <p:nvPr/>
        </p:nvSpPr>
        <p:spPr>
          <a:xfrm>
            <a:off x="7726680" y="1627632"/>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Overview</a:t>
            </a:r>
            <a:endParaRPr lang="en-US" sz="1500" dirty="0"/>
          </a:p>
          <a:p>
            <a:pPr indent="0" marL="0">
              <a:buNone/>
            </a:pPr>
            <a:r>
              <a:rPr lang="en-US" sz="1300" dirty="0">
                <a:solidFill>
                  <a:srgbClr val="4A5A4F"/>
                </a:solidFill>
              </a:rPr>
              <a:t>Active members, pending proofs, Seeds per house</a:t>
            </a:r>
            <a:endParaRPr lang="en-US" sz="1500" dirty="0"/>
          </a:p>
        </p:txBody>
      </p:sp>
      <p:sp>
        <p:nvSpPr>
          <p:cNvPr id="7" name="admin item 2"/>
          <p:cNvSpPr txBox="1"/>
          <p:nvPr/>
        </p:nvSpPr>
        <p:spPr>
          <a:xfrm>
            <a:off x="7726680" y="2249424"/>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Approval queue</a:t>
            </a:r>
            <a:endParaRPr lang="en-US" sz="1500" dirty="0"/>
          </a:p>
          <a:p>
            <a:pPr indent="0" marL="0">
              <a:buNone/>
            </a:pPr>
            <a:r>
              <a:rPr lang="en-US" sz="1300" dirty="0">
                <a:solidFill>
                  <a:srgbClr val="4A5A4F"/>
                </a:solidFill>
              </a:rPr>
              <a:t>Approve or reject in one tap, or in bulk</a:t>
            </a:r>
            <a:endParaRPr lang="en-US" sz="1500" dirty="0"/>
          </a:p>
        </p:txBody>
      </p:sp>
      <p:sp>
        <p:nvSpPr>
          <p:cNvPr id="8" name="admin item 3"/>
          <p:cNvSpPr txBox="1"/>
          <p:nvPr/>
        </p:nvSpPr>
        <p:spPr>
          <a:xfrm>
            <a:off x="7726680" y="2871216"/>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Quests</a:t>
            </a:r>
            <a:endParaRPr lang="en-US" sz="1500" dirty="0"/>
          </a:p>
          <a:p>
            <a:pPr indent="0" marL="0">
              <a:buNone/>
            </a:pPr>
            <a:r>
              <a:rPr lang="en-US" sz="1300" dirty="0">
                <a:solidFill>
                  <a:srgbClr val="4A5A4F"/>
                </a:solidFill>
              </a:rPr>
              <a:t>Create, edit, pause or delete quests</a:t>
            </a:r>
            <a:endParaRPr lang="en-US" sz="1500" dirty="0"/>
          </a:p>
        </p:txBody>
      </p:sp>
      <p:sp>
        <p:nvSpPr>
          <p:cNvPr id="9" name="admin item 4"/>
          <p:cNvSpPr txBox="1"/>
          <p:nvPr/>
        </p:nvSpPr>
        <p:spPr>
          <a:xfrm>
            <a:off x="7726680" y="3493008"/>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Badges</a:t>
            </a:r>
            <a:endParaRPr lang="en-US" sz="1500" dirty="0"/>
          </a:p>
          <a:p>
            <a:pPr indent="0" marL="0">
              <a:buNone/>
            </a:pPr>
            <a:r>
              <a:rPr lang="en-US" sz="1300" dirty="0">
                <a:solidFill>
                  <a:srgbClr val="4A5A4F"/>
                </a:solidFill>
              </a:rPr>
              <a:t>Create rule-based badges or award by hand</a:t>
            </a:r>
            <a:endParaRPr lang="en-US" sz="1500" dirty="0"/>
          </a:p>
        </p:txBody>
      </p:sp>
      <p:sp>
        <p:nvSpPr>
          <p:cNvPr id="10" name="admin item 5"/>
          <p:cNvSpPr txBox="1"/>
          <p:nvPr/>
        </p:nvSpPr>
        <p:spPr>
          <a:xfrm>
            <a:off x="7726680" y="4114800"/>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House lore</a:t>
            </a:r>
            <a:endParaRPr lang="en-US" sz="1500" dirty="0"/>
          </a:p>
          <a:p>
            <a:pPr indent="0" marL="0">
              <a:buNone/>
            </a:pPr>
            <a:r>
              <a:rPr lang="en-US" sz="1300" dirty="0">
                <a:solidFill>
                  <a:srgbClr val="4A5A4F"/>
                </a:solidFill>
              </a:rPr>
              <a:t>Edit story cards, mascot, values, trivia</a:t>
            </a:r>
            <a:endParaRPr lang="en-US" sz="1500" dirty="0"/>
          </a:p>
        </p:txBody>
      </p:sp>
      <p:sp>
        <p:nvSpPr>
          <p:cNvPr id="11" name="admin item 6"/>
          <p:cNvSpPr txBox="1"/>
          <p:nvPr/>
        </p:nvSpPr>
        <p:spPr>
          <a:xfrm>
            <a:off x="7726680" y="4736592"/>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Members</a:t>
            </a:r>
            <a:endParaRPr lang="en-US" sz="1500" dirty="0"/>
          </a:p>
          <a:p>
            <a:pPr indent="0" marL="0">
              <a:buNone/>
            </a:pPr>
            <a:r>
              <a:rPr lang="en-US" sz="1300" dirty="0">
                <a:solidFill>
                  <a:srgbClr val="4A5A4F"/>
                </a:solidFill>
              </a:rPr>
              <a:t>Search, give bonus Seeds, change roles</a:t>
            </a:r>
            <a:endParaRPr lang="en-US" sz="1500" dirty="0"/>
          </a:p>
        </p:txBody>
      </p:sp>
      <p:sp>
        <p:nvSpPr>
          <p:cNvPr id="12" name="admin item 7"/>
          <p:cNvSpPr txBox="1"/>
          <p:nvPr/>
        </p:nvSpPr>
        <p:spPr>
          <a:xfrm>
            <a:off x="7726680" y="5358384"/>
            <a:ext cx="3749040" cy="566928"/>
          </a:xfrm>
          <a:prstGeom prst="rect">
            <a:avLst/>
          </a:prstGeom>
          <a:noFill/>
          <a:ln/>
        </p:spPr>
        <p:txBody>
          <a:bodyPr wrap="square" lIns="0" tIns="0" rIns="0" bIns="0" rtlCol="0" anchor="t"/>
          <a:lstStyle/>
          <a:p>
            <a:pPr indent="0" marL="0">
              <a:buNone/>
            </a:pPr>
            <a:r>
              <a:rPr lang="en-US" sz="1500" b="1" dirty="0">
                <a:solidFill>
                  <a:schemeClr val="accent1"/>
                </a:solidFill>
              </a:rPr>
              <a:t>Activity log</a:t>
            </a:r>
            <a:endParaRPr lang="en-US" sz="1500" dirty="0"/>
          </a:p>
          <a:p>
            <a:pPr indent="0" marL="0">
              <a:buNone/>
            </a:pPr>
            <a:r>
              <a:rPr lang="en-US" sz="1300" dirty="0">
                <a:solidFill>
                  <a:srgbClr val="4A5A4F"/>
                </a:solidFill>
              </a:rPr>
              <a:t>Every action, with who did it and when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Architecture: Next.js + Supabase on Vercel</a:t>
            </a:r>
            <a:endParaRPr lang="en-US" sz="3400" dirty="0"/>
          </a:p>
        </p:txBody>
      </p:sp>
      <p:sp>
        <p:nvSpPr>
          <p:cNvPr id="3" name="phone box"/>
          <p:cNvSpPr/>
          <p:nvPr/>
        </p:nvSpPr>
        <p:spPr>
          <a:xfrm>
            <a:off x="548640" y="1965960"/>
            <a:ext cx="2103120" cy="2286000"/>
          </a:xfrm>
          <a:prstGeom prst="roundRect">
            <a:avLst>
              <a:gd name="adj" fmla="val 7826"/>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phone circle"/>
          <p:cNvSpPr/>
          <p:nvPr/>
        </p:nvSpPr>
        <p:spPr>
          <a:xfrm>
            <a:off x="1280160" y="2194560"/>
            <a:ext cx="640080" cy="640080"/>
          </a:xfrm>
          <a:prstGeom prst="ellipse">
            <a:avLst/>
          </a:prstGeom>
          <a:solidFill>
            <a:schemeClr val="accent4"/>
          </a:solidFill>
          <a:ln w="19050">
            <a:solidFill>
              <a:schemeClr val="bg1"/>
            </a:solidFill>
            <a:prstDash val="solid"/>
          </a:ln>
        </p:spPr>
      </p:sp>
      <p:pic>
        <p:nvPicPr>
          <p:cNvPr id="5" name="phone icon" descr="preencoded.png">    </p:cNvPr>
          <p:cNvPicPr>
            <a:picLocks noChangeAspect="1"/>
          </p:cNvPicPr>
          <p:nvPr/>
        </p:nvPicPr>
        <p:blipFill>
          <a:blip r:embed="rId1"/>
          <a:stretch>
            <a:fillRect/>
          </a:stretch>
        </p:blipFill>
        <p:spPr>
          <a:xfrm>
            <a:off x="1433779" y="2348179"/>
            <a:ext cx="332842" cy="332842"/>
          </a:xfrm>
          <a:prstGeom prst="rect">
            <a:avLst/>
          </a:prstGeom>
        </p:spPr>
      </p:pic>
      <p:sp>
        <p:nvSpPr>
          <p:cNvPr id="6" name="phone label"/>
          <p:cNvSpPr txBox="1"/>
          <p:nvPr/>
        </p:nvSpPr>
        <p:spPr>
          <a:xfrm>
            <a:off x="685800" y="2971800"/>
            <a:ext cx="1828800" cy="822960"/>
          </a:xfrm>
          <a:prstGeom prst="rect">
            <a:avLst/>
          </a:prstGeom>
          <a:noFill/>
          <a:ln/>
        </p:spPr>
        <p:txBody>
          <a:bodyPr wrap="square" lIns="0" tIns="0" rIns="0" bIns="0" rtlCol="0" anchor="t"/>
          <a:lstStyle/>
          <a:p>
            <a:pPr algn="ctr" indent="0" marL="0">
              <a:buNone/>
            </a:pPr>
            <a:r>
              <a:rPr lang="en-US" sz="1600" b="1" dirty="0">
                <a:solidFill>
                  <a:schemeClr val="tx1"/>
                </a:solidFill>
              </a:rPr>
              <a:t>Student's phone</a:t>
            </a:r>
            <a:endParaRPr lang="en-US" sz="1600" dirty="0"/>
          </a:p>
          <a:p>
            <a:pPr algn="ctr" indent="0" marL="0">
              <a:buNone/>
            </a:pPr>
            <a:r>
              <a:rPr lang="en-US" sz="1300" dirty="0">
                <a:solidFill>
                  <a:srgbClr val="4A5A4F"/>
                </a:solidFill>
              </a:rPr>
              <a:t>or laptop browser</a:t>
            </a:r>
            <a:endParaRPr lang="en-US" sz="1600" dirty="0"/>
          </a:p>
        </p:txBody>
      </p:sp>
      <p:pic>
        <p:nvPicPr>
          <p:cNvPr id="7" name="arrow 1" descr="preencoded.png">    </p:cNvPr>
          <p:cNvPicPr>
            <a:picLocks noChangeAspect="1"/>
          </p:cNvPicPr>
          <p:nvPr/>
        </p:nvPicPr>
        <p:blipFill>
          <a:blip r:embed="rId2"/>
          <a:stretch>
            <a:fillRect/>
          </a:stretch>
        </p:blipFill>
        <p:spPr>
          <a:xfrm>
            <a:off x="2788920" y="2944368"/>
            <a:ext cx="329184" cy="329184"/>
          </a:xfrm>
          <a:prstGeom prst="rect">
            <a:avLst/>
          </a:prstGeom>
        </p:spPr>
      </p:pic>
      <p:sp>
        <p:nvSpPr>
          <p:cNvPr id="8" name="nextjs box"/>
          <p:cNvSpPr/>
          <p:nvPr/>
        </p:nvSpPr>
        <p:spPr>
          <a:xfrm>
            <a:off x="3246120" y="1463040"/>
            <a:ext cx="4434840" cy="3291840"/>
          </a:xfrm>
          <a:prstGeom prst="roundRect">
            <a:avLst>
              <a:gd name="adj" fmla="val 5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9" name="nextjs title"/>
          <p:cNvSpPr txBox="1"/>
          <p:nvPr/>
        </p:nvSpPr>
        <p:spPr>
          <a:xfrm>
            <a:off x="3474720" y="1600200"/>
            <a:ext cx="4023360" cy="365760"/>
          </a:xfrm>
          <a:prstGeom prst="rect">
            <a:avLst/>
          </a:prstGeom>
          <a:noFill/>
          <a:ln/>
        </p:spPr>
        <p:txBody>
          <a:bodyPr wrap="square" lIns="0" tIns="0" rIns="0" bIns="0" rtlCol="0" anchor="t"/>
          <a:lstStyle/>
          <a:p>
            <a:pPr indent="0" marL="0">
              <a:buNone/>
            </a:pPr>
            <a:r>
              <a:rPr lang="en-US" sz="1700" b="1" dirty="0">
                <a:solidFill>
                  <a:schemeClr val="tx1"/>
                </a:solidFill>
              </a:rPr>
              <a:t>Next.js 15 App Router (TypeScript)</a:t>
            </a:r>
            <a:endParaRPr lang="en-US" sz="1700" dirty="0"/>
          </a:p>
        </p:txBody>
      </p:sp>
      <p:sp>
        <p:nvSpPr>
          <p:cNvPr id="10" name="server components"/>
          <p:cNvSpPr/>
          <p:nvPr/>
        </p:nvSpPr>
        <p:spPr>
          <a:xfrm>
            <a:off x="3474720" y="2103120"/>
            <a:ext cx="3977640" cy="1097280"/>
          </a:xfrm>
          <a:prstGeom prst="roundRect">
            <a:avLst>
              <a:gd name="adj" fmla="val 10000"/>
            </a:avLst>
          </a:prstGeom>
          <a:solidFill>
            <a:srgbClr val="1F6B40">
              <a:alpha val="18000"/>
            </a:srgbClr>
          </a:solidFill>
          <a:ln w="12700">
            <a:solidFill>
              <a:srgbClr val="1F6B40"/>
            </a:solidFill>
            <a:prstDash val="solid"/>
          </a:ln>
        </p:spPr>
      </p:sp>
      <p:sp>
        <p:nvSpPr>
          <p:cNvPr id="11" name="server components text"/>
          <p:cNvSpPr txBox="1"/>
          <p:nvPr/>
        </p:nvSpPr>
        <p:spPr>
          <a:xfrm>
            <a:off x="3639312" y="2212848"/>
            <a:ext cx="3648456" cy="877824"/>
          </a:xfrm>
          <a:prstGeom prst="rect">
            <a:avLst/>
          </a:prstGeom>
          <a:noFill/>
          <a:ln/>
        </p:spPr>
        <p:txBody>
          <a:bodyPr wrap="square" lIns="0" tIns="0" rIns="0" bIns="0" rtlCol="0" anchor="t"/>
          <a:lstStyle/>
          <a:p>
            <a:pPr indent="0" marL="0">
              <a:buNone/>
            </a:pPr>
            <a:r>
              <a:rPr lang="en-US" sz="1500" b="1" dirty="0">
                <a:solidFill>
                  <a:schemeClr val="tx1"/>
                </a:solidFill>
              </a:rPr>
              <a:t>Server Components</a:t>
            </a:r>
            <a:endParaRPr lang="en-US" sz="1500" dirty="0"/>
          </a:p>
          <a:p>
            <a:pPr indent="0" marL="0">
              <a:buNone/>
            </a:pPr>
            <a:r>
              <a:rPr lang="en-US" sz="1300" dirty="0">
                <a:solidFill>
                  <a:srgbClr val="4A5A4F"/>
                </a:solidFill>
              </a:rPr>
              <a:t>Pages load their data on the server: fast and secure</a:t>
            </a:r>
            <a:endParaRPr lang="en-US" sz="1500" dirty="0"/>
          </a:p>
        </p:txBody>
      </p:sp>
      <p:sp>
        <p:nvSpPr>
          <p:cNvPr id="12" name="server actions"/>
          <p:cNvSpPr/>
          <p:nvPr/>
        </p:nvSpPr>
        <p:spPr>
          <a:xfrm>
            <a:off x="3474720" y="3383280"/>
            <a:ext cx="3977640" cy="1188720"/>
          </a:xfrm>
          <a:prstGeom prst="roundRect">
            <a:avLst>
              <a:gd name="adj" fmla="val 9231"/>
            </a:avLst>
          </a:prstGeom>
          <a:solidFill>
            <a:srgbClr val="1F6B40">
              <a:alpha val="18000"/>
            </a:srgbClr>
          </a:solidFill>
          <a:ln w="12700">
            <a:solidFill>
              <a:srgbClr val="1F6B40"/>
            </a:solidFill>
            <a:prstDash val="solid"/>
          </a:ln>
        </p:spPr>
      </p:sp>
      <p:sp>
        <p:nvSpPr>
          <p:cNvPr id="13" name="server actions text"/>
          <p:cNvSpPr txBox="1"/>
          <p:nvPr/>
        </p:nvSpPr>
        <p:spPr>
          <a:xfrm>
            <a:off x="3639312" y="3493008"/>
            <a:ext cx="3648456" cy="969264"/>
          </a:xfrm>
          <a:prstGeom prst="rect">
            <a:avLst/>
          </a:prstGeom>
          <a:noFill/>
          <a:ln/>
        </p:spPr>
        <p:txBody>
          <a:bodyPr wrap="square" lIns="0" tIns="0" rIns="0" bIns="0" rtlCol="0" anchor="t"/>
          <a:lstStyle/>
          <a:p>
            <a:pPr indent="0" marL="0">
              <a:buNone/>
            </a:pPr>
            <a:r>
              <a:rPr lang="en-US" sz="1500" b="1" dirty="0">
                <a:solidFill>
                  <a:schemeClr val="tx1"/>
                </a:solidFill>
              </a:rPr>
              <a:t>Server Actions</a:t>
            </a:r>
            <a:endParaRPr lang="en-US" sz="1500" dirty="0"/>
          </a:p>
          <a:p>
            <a:pPr indent="0" marL="0">
              <a:buNone/>
            </a:pPr>
            <a:r>
              <a:rPr lang="en-US" sz="1300" dirty="0">
                <a:solidFill>
                  <a:srgbClr val="4A5A4F"/>
                </a:solidFill>
              </a:rPr>
              <a:t>Submit proof, approve, edit quests and lore, award Seeds</a:t>
            </a:r>
            <a:endParaRPr lang="en-US" sz="1500" dirty="0"/>
          </a:p>
        </p:txBody>
      </p:sp>
      <p:pic>
        <p:nvPicPr>
          <p:cNvPr id="14" name="arrow 2" descr="preencoded.png">    </p:cNvPr>
          <p:cNvPicPr>
            <a:picLocks noChangeAspect="1"/>
          </p:cNvPicPr>
          <p:nvPr/>
        </p:nvPicPr>
        <p:blipFill>
          <a:blip r:embed="rId3"/>
          <a:stretch>
            <a:fillRect/>
          </a:stretch>
        </p:blipFill>
        <p:spPr>
          <a:xfrm>
            <a:off x="7818120" y="2944368"/>
            <a:ext cx="329184" cy="329184"/>
          </a:xfrm>
          <a:prstGeom prst="rect">
            <a:avLst/>
          </a:prstGeom>
        </p:spPr>
      </p:pic>
      <p:sp>
        <p:nvSpPr>
          <p:cNvPr id="15" name="supabase box"/>
          <p:cNvSpPr/>
          <p:nvPr/>
        </p:nvSpPr>
        <p:spPr>
          <a:xfrm>
            <a:off x="8275320" y="1463040"/>
            <a:ext cx="3355848" cy="3291840"/>
          </a:xfrm>
          <a:prstGeom prst="roundRect">
            <a:avLst>
              <a:gd name="adj" fmla="val 5000"/>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6" name="supabase title"/>
          <p:cNvSpPr txBox="1"/>
          <p:nvPr/>
        </p:nvSpPr>
        <p:spPr>
          <a:xfrm>
            <a:off x="8503920" y="1600200"/>
            <a:ext cx="2926080" cy="365760"/>
          </a:xfrm>
          <a:prstGeom prst="rect">
            <a:avLst/>
          </a:prstGeom>
          <a:noFill/>
          <a:ln/>
        </p:spPr>
        <p:txBody>
          <a:bodyPr wrap="square" lIns="0" tIns="0" rIns="0" bIns="0" rtlCol="0" anchor="t"/>
          <a:lstStyle/>
          <a:p>
            <a:pPr indent="0" marL="0">
              <a:buNone/>
            </a:pPr>
            <a:r>
              <a:rPr lang="en-US" sz="1700" b="1" dirty="0">
                <a:solidFill>
                  <a:schemeClr val="tx1"/>
                </a:solidFill>
              </a:rPr>
              <a:t>Supabase</a:t>
            </a:r>
            <a:endParaRPr lang="en-US" sz="1700" dirty="0"/>
          </a:p>
        </p:txBody>
      </p:sp>
      <p:sp>
        <p:nvSpPr>
          <p:cNvPr id="17" name="postgres"/>
          <p:cNvSpPr/>
          <p:nvPr/>
        </p:nvSpPr>
        <p:spPr>
          <a:xfrm>
            <a:off x="8503920" y="2103120"/>
            <a:ext cx="2898648" cy="749808"/>
          </a:xfrm>
          <a:prstGeom prst="roundRect">
            <a:avLst>
              <a:gd name="adj" fmla="val 14634"/>
            </a:avLst>
          </a:prstGeom>
          <a:solidFill>
            <a:srgbClr val="F2B632">
              <a:alpha val="18000"/>
            </a:srgbClr>
          </a:solidFill>
          <a:ln w="12700">
            <a:solidFill>
              <a:srgbClr val="F2B632"/>
            </a:solidFill>
            <a:prstDash val="solid"/>
          </a:ln>
        </p:spPr>
      </p:sp>
      <p:sp>
        <p:nvSpPr>
          <p:cNvPr id="18" name="postgres text"/>
          <p:cNvSpPr txBox="1"/>
          <p:nvPr/>
        </p:nvSpPr>
        <p:spPr>
          <a:xfrm>
            <a:off x="8668512" y="2212848"/>
            <a:ext cx="2569464" cy="530352"/>
          </a:xfrm>
          <a:prstGeom prst="rect">
            <a:avLst/>
          </a:prstGeom>
          <a:noFill/>
          <a:ln/>
        </p:spPr>
        <p:txBody>
          <a:bodyPr wrap="square" lIns="0" tIns="0" rIns="0" bIns="0" rtlCol="0" anchor="t"/>
          <a:lstStyle/>
          <a:p>
            <a:pPr indent="0" marL="0">
              <a:buNone/>
            </a:pPr>
            <a:r>
              <a:rPr lang="en-US" sz="1500" b="1" dirty="0">
                <a:solidFill>
                  <a:schemeClr val="tx1"/>
                </a:solidFill>
              </a:rPr>
              <a:t>Postgres + RLS</a:t>
            </a:r>
            <a:endParaRPr lang="en-US" sz="1500" dirty="0"/>
          </a:p>
          <a:p>
            <a:pPr indent="0" marL="0">
              <a:buNone/>
            </a:pPr>
            <a:r>
              <a:rPr lang="en-US" sz="1300" dirty="0">
                <a:solidFill>
                  <a:srgbClr val="4A5A4F"/>
                </a:solidFill>
              </a:rPr>
              <a:t>The pantry, with staff-only rules</a:t>
            </a:r>
            <a:endParaRPr lang="en-US" sz="1500" dirty="0"/>
          </a:p>
        </p:txBody>
      </p:sp>
      <p:sp>
        <p:nvSpPr>
          <p:cNvPr id="19" name="auth"/>
          <p:cNvSpPr/>
          <p:nvPr/>
        </p:nvSpPr>
        <p:spPr>
          <a:xfrm>
            <a:off x="8503920" y="2944368"/>
            <a:ext cx="2898648" cy="749808"/>
          </a:xfrm>
          <a:prstGeom prst="roundRect">
            <a:avLst>
              <a:gd name="adj" fmla="val 14634"/>
            </a:avLst>
          </a:prstGeom>
          <a:solidFill>
            <a:srgbClr val="F2B632">
              <a:alpha val="18000"/>
            </a:srgbClr>
          </a:solidFill>
          <a:ln w="12700">
            <a:solidFill>
              <a:srgbClr val="F2B632"/>
            </a:solidFill>
            <a:prstDash val="solid"/>
          </a:ln>
        </p:spPr>
      </p:sp>
      <p:sp>
        <p:nvSpPr>
          <p:cNvPr id="20" name="auth text"/>
          <p:cNvSpPr txBox="1"/>
          <p:nvPr/>
        </p:nvSpPr>
        <p:spPr>
          <a:xfrm>
            <a:off x="8668512" y="3054096"/>
            <a:ext cx="2569464" cy="530352"/>
          </a:xfrm>
          <a:prstGeom prst="rect">
            <a:avLst/>
          </a:prstGeom>
          <a:noFill/>
          <a:ln/>
        </p:spPr>
        <p:txBody>
          <a:bodyPr wrap="square" lIns="0" tIns="0" rIns="0" bIns="0" rtlCol="0" anchor="t"/>
          <a:lstStyle/>
          <a:p>
            <a:pPr indent="0" marL="0">
              <a:buNone/>
            </a:pPr>
            <a:r>
              <a:rPr lang="en-US" sz="1500" b="1" dirty="0">
                <a:solidFill>
                  <a:schemeClr val="tx1"/>
                </a:solidFill>
              </a:rPr>
              <a:t>Auth</a:t>
            </a:r>
            <a:endParaRPr lang="en-US" sz="1500" dirty="0"/>
          </a:p>
          <a:p>
            <a:pPr indent="0" marL="0">
              <a:buNone/>
            </a:pPr>
            <a:r>
              <a:rPr lang="en-US" sz="1300" dirty="0">
                <a:solidFill>
                  <a:srgbClr val="4A5A4F"/>
                </a:solidFill>
              </a:rPr>
              <a:t>Email and Google login</a:t>
            </a:r>
            <a:endParaRPr lang="en-US" sz="1500" dirty="0"/>
          </a:p>
        </p:txBody>
      </p:sp>
      <p:sp>
        <p:nvSpPr>
          <p:cNvPr id="21" name="storage"/>
          <p:cNvSpPr/>
          <p:nvPr/>
        </p:nvSpPr>
        <p:spPr>
          <a:xfrm>
            <a:off x="8503920" y="3785616"/>
            <a:ext cx="2898648" cy="786384"/>
          </a:xfrm>
          <a:prstGeom prst="roundRect">
            <a:avLst>
              <a:gd name="adj" fmla="val 13953"/>
            </a:avLst>
          </a:prstGeom>
          <a:solidFill>
            <a:srgbClr val="F2B632">
              <a:alpha val="18000"/>
            </a:srgbClr>
          </a:solidFill>
          <a:ln w="12700">
            <a:solidFill>
              <a:srgbClr val="F2B632"/>
            </a:solidFill>
            <a:prstDash val="solid"/>
          </a:ln>
        </p:spPr>
      </p:sp>
      <p:sp>
        <p:nvSpPr>
          <p:cNvPr id="22" name="storage text"/>
          <p:cNvSpPr txBox="1"/>
          <p:nvPr/>
        </p:nvSpPr>
        <p:spPr>
          <a:xfrm>
            <a:off x="8668512" y="3895344"/>
            <a:ext cx="2569464" cy="566928"/>
          </a:xfrm>
          <a:prstGeom prst="rect">
            <a:avLst/>
          </a:prstGeom>
          <a:noFill/>
          <a:ln/>
        </p:spPr>
        <p:txBody>
          <a:bodyPr wrap="square" lIns="0" tIns="0" rIns="0" bIns="0" rtlCol="0" anchor="t"/>
          <a:lstStyle/>
          <a:p>
            <a:pPr indent="0" marL="0">
              <a:buNone/>
            </a:pPr>
            <a:r>
              <a:rPr lang="en-US" sz="1500" b="1" dirty="0">
                <a:solidFill>
                  <a:schemeClr val="tx1"/>
                </a:solidFill>
              </a:rPr>
              <a:t>Storage</a:t>
            </a:r>
            <a:endParaRPr lang="en-US" sz="1500" dirty="0"/>
          </a:p>
          <a:p>
            <a:pPr indent="0" marL="0">
              <a:buNone/>
            </a:pPr>
            <a:r>
              <a:rPr lang="en-US" sz="1300" dirty="0">
                <a:solidFill>
                  <a:srgbClr val="4A5A4F"/>
                </a:solidFill>
              </a:rPr>
              <a:t>Proof photos</a:t>
            </a:r>
            <a:endParaRPr lang="en-US" sz="1500" dirty="0"/>
          </a:p>
        </p:txBody>
      </p:sp>
      <p:sp>
        <p:nvSpPr>
          <p:cNvPr id="23" name="vercel box"/>
          <p:cNvSpPr/>
          <p:nvPr/>
        </p:nvSpPr>
        <p:spPr>
          <a:xfrm>
            <a:off x="3246120" y="4937760"/>
            <a:ext cx="8385048" cy="548640"/>
          </a:xfrm>
          <a:prstGeom prst="roundRect">
            <a:avLst>
              <a:gd name="adj" fmla="val 20000"/>
            </a:avLst>
          </a:prstGeom>
          <a:solidFill>
            <a:schemeClr val="tx2">
              <a:alpha val="90000"/>
            </a:schemeClr>
          </a:solidFill>
          <a:ln w="12700">
            <a:solidFill>
              <a:schemeClr val="tx2"/>
            </a:solidFill>
            <a:prstDash val="solid"/>
          </a:ln>
        </p:spPr>
      </p:sp>
      <p:sp>
        <p:nvSpPr>
          <p:cNvPr id="24" name="vercel text"/>
          <p:cNvSpPr txBox="1"/>
          <p:nvPr/>
        </p:nvSpPr>
        <p:spPr>
          <a:xfrm>
            <a:off x="3474720" y="4937760"/>
            <a:ext cx="8046720" cy="548640"/>
          </a:xfrm>
          <a:prstGeom prst="rect">
            <a:avLst/>
          </a:prstGeom>
          <a:noFill/>
          <a:ln/>
        </p:spPr>
        <p:txBody>
          <a:bodyPr wrap="square" lIns="0" tIns="0" rIns="0" bIns="0" rtlCol="0" anchor="ctr"/>
          <a:lstStyle/>
          <a:p>
            <a:pPr indent="0" marL="0">
              <a:buNone/>
            </a:pPr>
            <a:r>
              <a:rPr lang="en-US" sz="1500" b="1" dirty="0">
                <a:solidFill>
                  <a:schemeClr val="bg1"/>
                </a:solidFill>
              </a:rPr>
              <a:t>Vercel  </a:t>
            </a:r>
            <a:pPr indent="0" marL="0">
              <a:buNone/>
            </a:pPr>
            <a:r>
              <a:rPr lang="en-US" sz="1500" dirty="0">
                <a:solidFill>
                  <a:schemeClr val="bg1"/>
                </a:solidFill>
              </a:rPr>
              <a:t>hosts it all on a public link and redeploys on every push to GitHub</a:t>
            </a:r>
            <a:endParaRPr lang="en-US" sz="1500" dirty="0"/>
          </a:p>
        </p:txBody>
      </p:sp>
      <p:sp>
        <p:nvSpPr>
          <p:cNvPr id="25" name="stack note"/>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400" i="1" dirty="0">
                <a:solidFill>
                  <a:srgbClr val="4A5A4F"/>
                </a:solidFill>
              </a:rPr>
              <a:t>Also: Tailwind CSS 4 · hand-built SVG artwork · a demo mode with sample data that runs with zero setup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Trust is built into the database itself</a:t>
            </a:r>
            <a:endParaRPr lang="en-US" sz="3400" dirty="0"/>
          </a:p>
        </p:txBody>
      </p:sp>
      <p:sp>
        <p:nvSpPr>
          <p:cNvPr id="3" name="trust card 1"/>
          <p:cNvSpPr/>
          <p:nvPr/>
        </p:nvSpPr>
        <p:spPr>
          <a:xfrm>
            <a:off x="548640" y="1417320"/>
            <a:ext cx="3511296" cy="2514600"/>
          </a:xfrm>
          <a:prstGeom prst="roundRect">
            <a:avLst>
              <a:gd name="adj" fmla="val 6545"/>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trust 1 circle"/>
          <p:cNvSpPr/>
          <p:nvPr/>
        </p:nvSpPr>
        <p:spPr>
          <a:xfrm>
            <a:off x="822960" y="1645920"/>
            <a:ext cx="594360" cy="594360"/>
          </a:xfrm>
          <a:prstGeom prst="ellipse">
            <a:avLst/>
          </a:prstGeom>
          <a:solidFill>
            <a:schemeClr val="accent1"/>
          </a:solidFill>
          <a:ln w="19050">
            <a:solidFill>
              <a:schemeClr val="bg1"/>
            </a:solidFill>
            <a:prstDash val="solid"/>
          </a:ln>
        </p:spPr>
      </p:sp>
      <p:pic>
        <p:nvPicPr>
          <p:cNvPr id="5" name="trust 1 icon" descr="preencoded.png">    </p:cNvPr>
          <p:cNvPicPr>
            <a:picLocks noChangeAspect="1"/>
          </p:cNvPicPr>
          <p:nvPr/>
        </p:nvPicPr>
        <p:blipFill>
          <a:blip r:embed="rId1"/>
          <a:stretch>
            <a:fillRect/>
          </a:stretch>
        </p:blipFill>
        <p:spPr>
          <a:xfrm>
            <a:off x="965606" y="1788566"/>
            <a:ext cx="309067" cy="309067"/>
          </a:xfrm>
          <a:prstGeom prst="rect">
            <a:avLst/>
          </a:prstGeom>
        </p:spPr>
      </p:pic>
      <p:sp>
        <p:nvSpPr>
          <p:cNvPr id="6" name="trust title 1"/>
          <p:cNvSpPr txBox="1"/>
          <p:nvPr/>
        </p:nvSpPr>
        <p:spPr>
          <a:xfrm>
            <a:off x="1554480" y="1719072"/>
            <a:ext cx="2331720" cy="457200"/>
          </a:xfrm>
          <a:prstGeom prst="rect">
            <a:avLst/>
          </a:prstGeom>
          <a:noFill/>
          <a:ln/>
        </p:spPr>
        <p:txBody>
          <a:bodyPr wrap="square" lIns="0" tIns="0" rIns="0" bIns="0" rtlCol="0" anchor="ctr"/>
          <a:lstStyle/>
          <a:p>
            <a:pPr indent="0" marL="0">
              <a:buNone/>
            </a:pPr>
            <a:r>
              <a:rPr lang="en-US" sz="1800" b="1" dirty="0">
                <a:solidFill>
                  <a:schemeClr val="tx1"/>
                </a:solidFill>
              </a:rPr>
              <a:t>Row Level Security</a:t>
            </a:r>
            <a:endParaRPr lang="en-US" sz="1800" dirty="0"/>
          </a:p>
        </p:txBody>
      </p:sp>
      <p:sp>
        <p:nvSpPr>
          <p:cNvPr id="7" name="trust body 1"/>
          <p:cNvSpPr txBox="1"/>
          <p:nvPr/>
        </p:nvSpPr>
        <p:spPr>
          <a:xfrm>
            <a:off x="822960" y="2423160"/>
            <a:ext cx="2971800" cy="1417320"/>
          </a:xfrm>
          <a:prstGeom prst="rect">
            <a:avLst/>
          </a:prstGeom>
          <a:noFill/>
          <a:ln/>
        </p:spPr>
        <p:txBody>
          <a:bodyPr wrap="square" lIns="0" tIns="0" rIns="0" bIns="0" rtlCol="0" anchor="t"/>
          <a:lstStyle/>
          <a:p>
            <a:pPr indent="0" marL="0">
              <a:buNone/>
            </a:pPr>
            <a:r>
              <a:rPr lang="en-US" sz="1400" dirty="0">
                <a:solidFill>
                  <a:srgbClr val="4A5A4F"/>
                </a:solidFill>
              </a:rPr>
              <a:t>Members can only change their own name and photo and submit their own proof. Even a tampered website can't change Seeds or roles.</a:t>
            </a:r>
            <a:endParaRPr lang="en-US" sz="1400" dirty="0"/>
          </a:p>
        </p:txBody>
      </p:sp>
      <p:sp>
        <p:nvSpPr>
          <p:cNvPr id="8" name="trust card 2"/>
          <p:cNvSpPr/>
          <p:nvPr/>
        </p:nvSpPr>
        <p:spPr>
          <a:xfrm>
            <a:off x="4334256" y="1417320"/>
            <a:ext cx="3511296" cy="2514600"/>
          </a:xfrm>
          <a:prstGeom prst="roundRect">
            <a:avLst>
              <a:gd name="adj" fmla="val 6545"/>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9" name="trust 2 circle"/>
          <p:cNvSpPr/>
          <p:nvPr/>
        </p:nvSpPr>
        <p:spPr>
          <a:xfrm>
            <a:off x="4608576" y="1645920"/>
            <a:ext cx="594360" cy="594360"/>
          </a:xfrm>
          <a:prstGeom prst="ellipse">
            <a:avLst/>
          </a:prstGeom>
          <a:solidFill>
            <a:schemeClr val="accent1"/>
          </a:solidFill>
          <a:ln w="19050">
            <a:solidFill>
              <a:schemeClr val="bg1"/>
            </a:solidFill>
            <a:prstDash val="solid"/>
          </a:ln>
        </p:spPr>
      </p:sp>
      <p:pic>
        <p:nvPicPr>
          <p:cNvPr id="10" name="trust 2 icon" descr="preencoded.png">    </p:cNvPr>
          <p:cNvPicPr>
            <a:picLocks noChangeAspect="1"/>
          </p:cNvPicPr>
          <p:nvPr/>
        </p:nvPicPr>
        <p:blipFill>
          <a:blip r:embed="rId2"/>
          <a:stretch>
            <a:fillRect/>
          </a:stretch>
        </p:blipFill>
        <p:spPr>
          <a:xfrm>
            <a:off x="4751222" y="1788566"/>
            <a:ext cx="309067" cy="309067"/>
          </a:xfrm>
          <a:prstGeom prst="rect">
            <a:avLst/>
          </a:prstGeom>
        </p:spPr>
      </p:pic>
      <p:sp>
        <p:nvSpPr>
          <p:cNvPr id="11" name="trust title 2"/>
          <p:cNvSpPr txBox="1"/>
          <p:nvPr/>
        </p:nvSpPr>
        <p:spPr>
          <a:xfrm>
            <a:off x="5340096" y="1719072"/>
            <a:ext cx="2331720" cy="457200"/>
          </a:xfrm>
          <a:prstGeom prst="rect">
            <a:avLst/>
          </a:prstGeom>
          <a:noFill/>
          <a:ln/>
        </p:spPr>
        <p:txBody>
          <a:bodyPr wrap="square" lIns="0" tIns="0" rIns="0" bIns="0" rtlCol="0" anchor="ctr"/>
          <a:lstStyle/>
          <a:p>
            <a:pPr indent="0" marL="0">
              <a:buNone/>
            </a:pPr>
            <a:r>
              <a:rPr lang="en-US" sz="1800" b="1" dirty="0">
                <a:solidFill>
                  <a:schemeClr val="tx1"/>
                </a:solidFill>
              </a:rPr>
              <a:t>All-or-nothing approvals</a:t>
            </a:r>
            <a:endParaRPr lang="en-US" sz="1800" dirty="0"/>
          </a:p>
        </p:txBody>
      </p:sp>
      <p:sp>
        <p:nvSpPr>
          <p:cNvPr id="12" name="trust body 2"/>
          <p:cNvSpPr txBox="1"/>
          <p:nvPr/>
        </p:nvSpPr>
        <p:spPr>
          <a:xfrm>
            <a:off x="4608576" y="2423160"/>
            <a:ext cx="2971800" cy="1417320"/>
          </a:xfrm>
          <a:prstGeom prst="rect">
            <a:avLst/>
          </a:prstGeom>
          <a:noFill/>
          <a:ln/>
        </p:spPr>
        <p:txBody>
          <a:bodyPr wrap="square" lIns="0" tIns="0" rIns="0" bIns="0" rtlCol="0" anchor="t"/>
          <a:lstStyle/>
          <a:p>
            <a:pPr indent="0" marL="0">
              <a:buNone/>
            </a:pPr>
            <a:r>
              <a:rPr lang="en-US" sz="1400" dirty="0">
                <a:solidFill>
                  <a:srgbClr val="4A5A4F"/>
                </a:solidFill>
              </a:rPr>
              <a:t>One database function does status, Seeds, tree, badges and log in a single transaction.</a:t>
            </a:r>
            <a:endParaRPr lang="en-US" sz="1400" dirty="0"/>
          </a:p>
        </p:txBody>
      </p:sp>
      <p:sp>
        <p:nvSpPr>
          <p:cNvPr id="13" name="trust card 3"/>
          <p:cNvSpPr/>
          <p:nvPr/>
        </p:nvSpPr>
        <p:spPr>
          <a:xfrm>
            <a:off x="8119872" y="1417320"/>
            <a:ext cx="3511296" cy="2514600"/>
          </a:xfrm>
          <a:prstGeom prst="roundRect">
            <a:avLst>
              <a:gd name="adj" fmla="val 6545"/>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4" name="trust 3 circle"/>
          <p:cNvSpPr/>
          <p:nvPr/>
        </p:nvSpPr>
        <p:spPr>
          <a:xfrm>
            <a:off x="8394192" y="1645920"/>
            <a:ext cx="594360" cy="594360"/>
          </a:xfrm>
          <a:prstGeom prst="ellipse">
            <a:avLst/>
          </a:prstGeom>
          <a:solidFill>
            <a:schemeClr val="accent1"/>
          </a:solidFill>
          <a:ln w="19050">
            <a:solidFill>
              <a:schemeClr val="bg1"/>
            </a:solidFill>
            <a:prstDash val="solid"/>
          </a:ln>
        </p:spPr>
      </p:sp>
      <p:pic>
        <p:nvPicPr>
          <p:cNvPr id="15" name="trust 3 icon" descr="preencoded.png">    </p:cNvPr>
          <p:cNvPicPr>
            <a:picLocks noChangeAspect="1"/>
          </p:cNvPicPr>
          <p:nvPr/>
        </p:nvPicPr>
        <p:blipFill>
          <a:blip r:embed="rId3"/>
          <a:stretch>
            <a:fillRect/>
          </a:stretch>
        </p:blipFill>
        <p:spPr>
          <a:xfrm>
            <a:off x="8536838" y="1788566"/>
            <a:ext cx="309067" cy="309067"/>
          </a:xfrm>
          <a:prstGeom prst="rect">
            <a:avLst/>
          </a:prstGeom>
        </p:spPr>
      </p:pic>
      <p:sp>
        <p:nvSpPr>
          <p:cNvPr id="16" name="trust title 3"/>
          <p:cNvSpPr txBox="1"/>
          <p:nvPr/>
        </p:nvSpPr>
        <p:spPr>
          <a:xfrm>
            <a:off x="9125712" y="1719072"/>
            <a:ext cx="2331720" cy="457200"/>
          </a:xfrm>
          <a:prstGeom prst="rect">
            <a:avLst/>
          </a:prstGeom>
          <a:noFill/>
          <a:ln/>
        </p:spPr>
        <p:txBody>
          <a:bodyPr wrap="square" lIns="0" tIns="0" rIns="0" bIns="0" rtlCol="0" anchor="ctr"/>
          <a:lstStyle/>
          <a:p>
            <a:pPr indent="0" marL="0">
              <a:buNone/>
            </a:pPr>
            <a:r>
              <a:rPr lang="en-US" sz="1800" b="1" dirty="0">
                <a:solidFill>
                  <a:schemeClr val="tx1"/>
                </a:solidFill>
              </a:rPr>
              <a:t>Every action is logged</a:t>
            </a:r>
            <a:endParaRPr lang="en-US" sz="1800" dirty="0"/>
          </a:p>
        </p:txBody>
      </p:sp>
      <p:sp>
        <p:nvSpPr>
          <p:cNvPr id="17" name="trust body 3"/>
          <p:cNvSpPr txBox="1"/>
          <p:nvPr/>
        </p:nvSpPr>
        <p:spPr>
          <a:xfrm>
            <a:off x="8394192" y="2423160"/>
            <a:ext cx="2971800" cy="1417320"/>
          </a:xfrm>
          <a:prstGeom prst="rect">
            <a:avLst/>
          </a:prstGeom>
          <a:noFill/>
          <a:ln/>
        </p:spPr>
        <p:txBody>
          <a:bodyPr wrap="square" lIns="0" tIns="0" rIns="0" bIns="0" rtlCol="0" anchor="t"/>
          <a:lstStyle/>
          <a:p>
            <a:pPr indent="0" marL="0">
              <a:buNone/>
            </a:pPr>
            <a:r>
              <a:rPr lang="en-US" sz="1400" dirty="0">
                <a:solidFill>
                  <a:srgbClr val="4A5A4F"/>
                </a:solidFill>
              </a:rPr>
              <a:t>Approvals, rejections, bonus Seeds and role changes are recorded with who did it and when.</a:t>
            </a:r>
            <a:endParaRPr lang="en-US" sz="1400" dirty="0"/>
          </a:p>
        </p:txBody>
      </p:sp>
      <p:graphicFrame>
        <p:nvGraphicFramePr>
          <p:cNvPr id="14" name="roles table"/>
          <p:cNvGraphicFramePr>
            <a:graphicFrameLocks noGrp="1"/>
          </p:cNvGraphicFramePr>
          <p:nvPr>
            <p:extLst>
              <p:ext uri="{D42A27DB-BD31-4B8C-83A1-F6EECF244321}">
                <p14:modId xmlns:p14="http://schemas.microsoft.com/office/powerpoint/2010/main" val="1579011935"/>
              </p:ext>
            </p:extLst>
          </p:nvPr>
        </p:nvGraphicFramePr>
        <p:xfrm>
          <a:off x="548640" y="4206240"/>
          <a:ext cx="11082528" cy="914400"/>
        </p:xfrm>
        <a:graphic>
          <a:graphicData uri="http://schemas.openxmlformats.org/drawingml/2006/table">
            <a:tbl>
              <a:tblPr/>
              <a:tblGrid>
                <a:gridCol w="4663440"/>
                <a:gridCol w="2139696"/>
                <a:gridCol w="2139696"/>
                <a:gridCol w="2139696"/>
              </a:tblGrid>
              <a:tr h="411480">
                <a:tc>
                  <a:txBody>
                    <a:bodyPr/>
                    <a:lstStyle/>
                    <a:p>
                      <a:pPr indent="0" marL="0">
                        <a:buNone/>
                      </a:pPr>
                      <a:r>
                        <a:rPr lang="en-US" sz="1400" b="1" dirty="0">
                          <a:solidFill>
                            <a:srgbClr val="FFFFFF"/>
                          </a:solidFill>
                        </a:rPr>
                        <a:t>Who can do what</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6B40"/>
                    </a:solidFill>
                  </a:tcPr>
                </a:tc>
                <a:tc>
                  <a:txBody>
                    <a:bodyPr/>
                    <a:lstStyle/>
                    <a:p>
                      <a:pPr indent="0" marL="0">
                        <a:buNone/>
                      </a:pPr>
                      <a:r>
                        <a:rPr lang="en-US" sz="1400" b="1" dirty="0">
                          <a:solidFill>
                            <a:srgbClr val="FFFFFF"/>
                          </a:solidFill>
                        </a:rPr>
                        <a:t>Member</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6B40"/>
                    </a:solidFill>
                  </a:tcPr>
                </a:tc>
                <a:tc>
                  <a:txBody>
                    <a:bodyPr/>
                    <a:lstStyle/>
                    <a:p>
                      <a:pPr indent="0" marL="0">
                        <a:buNone/>
                      </a:pPr>
                      <a:r>
                        <a:rPr lang="en-US" sz="1400" b="1" dirty="0">
                          <a:solidFill>
                            <a:srgbClr val="FFFFFF"/>
                          </a:solidFill>
                        </a:rPr>
                        <a:t>House admin</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6B40"/>
                    </a:solidFill>
                  </a:tcPr>
                </a:tc>
                <a:tc>
                  <a:txBody>
                    <a:bodyPr/>
                    <a:lstStyle/>
                    <a:p>
                      <a:pPr indent="0" marL="0">
                        <a:buNone/>
                      </a:pPr>
                      <a:r>
                        <a:rPr lang="en-US" sz="1400" b="1" dirty="0">
                          <a:solidFill>
                            <a:srgbClr val="FFFFFF"/>
                          </a:solidFill>
                        </a:rPr>
                        <a:t>Super admin</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6B40"/>
                    </a:solidFill>
                  </a:tcPr>
                </a:tc>
              </a:tr>
              <a:tr h="411480">
                <a:tc>
                  <a:txBody>
                    <a:bodyPr/>
                    <a:lstStyle/>
                    <a:p>
                      <a:pPr indent="0" marL="0">
                        <a:buNone/>
                      </a:pPr>
                      <a:r>
                        <a:rPr lang="en-US" sz="1400" b="1" dirty="0">
                          <a:solidFill>
                            <a:srgbClr val="16261B"/>
                          </a:solidFill>
                        </a:rPr>
                        <a:t>Do quests, submit proof, see every forest</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Yes</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Yes</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Yes</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r>
              <a:tr h="411480">
                <a:tc>
                  <a:txBody>
                    <a:bodyPr/>
                    <a:lstStyle/>
                    <a:p>
                      <a:pPr indent="0" marL="0">
                        <a:buNone/>
                      </a:pPr>
                      <a:r>
                        <a:rPr lang="en-US" sz="1400" b="1" dirty="0">
                          <a:solidFill>
                            <a:srgbClr val="16261B"/>
                          </a:solidFill>
                        </a:rPr>
                        <a:t>Approve proofs, manage quests, lore and trivia</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No</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Their own house</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All houses</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r>
              <a:tr h="411480">
                <a:tc>
                  <a:txBody>
                    <a:bodyPr/>
                    <a:lstStyle/>
                    <a:p>
                      <a:pPr indent="0" marL="0">
                        <a:buNone/>
                      </a:pPr>
                      <a:r>
                        <a:rPr lang="en-US" sz="1400" b="1" dirty="0">
                          <a:solidFill>
                            <a:srgbClr val="16261B"/>
                          </a:solidFill>
                        </a:rPr>
                        <a:t>Create badges and change roles</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No</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No</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c>
                  <a:txBody>
                    <a:bodyPr/>
                    <a:lstStyle/>
                    <a:p>
                      <a:pPr indent="0" marL="0">
                        <a:buNone/>
                      </a:pPr>
                      <a:r>
                        <a:rPr lang="en-US" sz="1400" dirty="0">
                          <a:solidFill>
                            <a:srgbClr val="16261B"/>
                          </a:solidFill>
                        </a:rPr>
                        <a:t>Yes</a:t>
                      </a:r>
                      <a:endParaRPr lang="en-US" sz="1400" dirty="0"/>
                    </a:p>
                  </a:txBody>
                  <a:tcPr marL="137160" marR="13716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alpha val="65000"/>
                      </a:srgbClr>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Liquid glass, real 3D, built for phones first</a:t>
            </a:r>
            <a:endParaRPr lang="en-US" sz="3400" dirty="0"/>
          </a:p>
        </p:txBody>
      </p:sp>
      <p:sp>
        <p:nvSpPr>
          <p:cNvPr id="3" name="Landing page screenshot frame"/>
          <p:cNvSpPr/>
          <p:nvPr/>
        </p:nvSpPr>
        <p:spPr>
          <a:xfrm>
            <a:off x="548640" y="1481328"/>
            <a:ext cx="6729984" cy="3849624"/>
          </a:xfrm>
          <a:prstGeom prst="roundRect">
            <a:avLst>
              <a:gd name="adj" fmla="val 4276"/>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pic>
        <p:nvPicPr>
          <p:cNvPr id="4" name="Landing page screenshot" descr="Landing page with frosted glass panels and a rotating 3D ring of the nine forests">    </p:cNvPr>
          <p:cNvPicPr>
            <a:picLocks noChangeAspect="1"/>
          </p:cNvPicPr>
          <p:nvPr/>
        </p:nvPicPr>
        <p:blipFill>
          <a:blip r:embed="rId1"/>
          <a:srcRect l="0" r="0" t="0" b="0"/>
          <a:stretch/>
        </p:blipFill>
        <p:spPr>
          <a:xfrm>
            <a:off x="621792" y="1554480"/>
            <a:ext cx="6583680" cy="3703320"/>
          </a:xfrm>
          <a:prstGeom prst="rect">
            <a:avLst/>
          </a:prstGeom>
        </p:spPr>
      </p:pic>
      <p:sp>
        <p:nvSpPr>
          <p:cNvPr id="5" name="ux 1 circle"/>
          <p:cNvSpPr/>
          <p:nvPr/>
        </p:nvSpPr>
        <p:spPr>
          <a:xfrm>
            <a:off x="7635240" y="1572768"/>
            <a:ext cx="594360" cy="594360"/>
          </a:xfrm>
          <a:prstGeom prst="ellipse">
            <a:avLst/>
          </a:prstGeom>
          <a:solidFill>
            <a:schemeClr val="accent4"/>
          </a:solidFill>
          <a:ln w="19050">
            <a:solidFill>
              <a:schemeClr val="bg1"/>
            </a:solidFill>
            <a:prstDash val="solid"/>
          </a:ln>
        </p:spPr>
      </p:sp>
      <p:pic>
        <p:nvPicPr>
          <p:cNvPr id="6" name="ux 1 icon" descr="preencoded.png">    </p:cNvPr>
          <p:cNvPicPr>
            <a:picLocks noChangeAspect="1"/>
          </p:cNvPicPr>
          <p:nvPr/>
        </p:nvPicPr>
        <p:blipFill>
          <a:blip r:embed="rId2"/>
          <a:stretch>
            <a:fillRect/>
          </a:stretch>
        </p:blipFill>
        <p:spPr>
          <a:xfrm>
            <a:off x="7777886" y="1715414"/>
            <a:ext cx="309067" cy="309067"/>
          </a:xfrm>
          <a:prstGeom prst="rect">
            <a:avLst/>
          </a:prstGeom>
        </p:spPr>
      </p:pic>
      <p:sp>
        <p:nvSpPr>
          <p:cNvPr id="7" name="ux title 1"/>
          <p:cNvSpPr txBox="1"/>
          <p:nvPr/>
        </p:nvSpPr>
        <p:spPr>
          <a:xfrm>
            <a:off x="8412480" y="1554480"/>
            <a:ext cx="3200400" cy="347472"/>
          </a:xfrm>
          <a:prstGeom prst="rect">
            <a:avLst/>
          </a:prstGeom>
          <a:noFill/>
          <a:ln/>
        </p:spPr>
        <p:txBody>
          <a:bodyPr wrap="square" lIns="0" tIns="0" rIns="0" bIns="0" rtlCol="0" anchor="t"/>
          <a:lstStyle/>
          <a:p>
            <a:pPr indent="0" marL="0">
              <a:buNone/>
            </a:pPr>
            <a:r>
              <a:rPr lang="en-US" sz="1700" b="1" dirty="0">
                <a:solidFill>
                  <a:schemeClr val="tx1"/>
                </a:solidFill>
              </a:rPr>
              <a:t>3D interface</a:t>
            </a:r>
            <a:endParaRPr lang="en-US" sz="1700" dirty="0"/>
          </a:p>
        </p:txBody>
      </p:sp>
      <p:sp>
        <p:nvSpPr>
          <p:cNvPr id="8" name="ux body 1"/>
          <p:cNvSpPr txBox="1"/>
          <p:nvPr/>
        </p:nvSpPr>
        <p:spPr>
          <a:xfrm>
            <a:off x="8412480" y="1901952"/>
            <a:ext cx="3200400" cy="658368"/>
          </a:xfrm>
          <a:prstGeom prst="rect">
            <a:avLst/>
          </a:prstGeom>
          <a:noFill/>
          <a:ln/>
        </p:spPr>
        <p:txBody>
          <a:bodyPr wrap="square" lIns="0" tIns="0" rIns="0" bIns="0" rtlCol="0" anchor="t"/>
          <a:lstStyle/>
          <a:p>
            <a:pPr indent="0" marL="0">
              <a:buNone/>
            </a:pPr>
            <a:r>
              <a:rPr lang="en-US" sz="1400" dirty="0">
                <a:solidFill>
                  <a:srgbClr val="4A5A4F"/>
                </a:solidFill>
              </a:rPr>
              <a:t>A rotating ring of forests; each one a tilting diorama.</a:t>
            </a:r>
            <a:endParaRPr lang="en-US" sz="1400" dirty="0"/>
          </a:p>
        </p:txBody>
      </p:sp>
      <p:sp>
        <p:nvSpPr>
          <p:cNvPr id="9" name="ux 2 circle"/>
          <p:cNvSpPr/>
          <p:nvPr/>
        </p:nvSpPr>
        <p:spPr>
          <a:xfrm>
            <a:off x="7635240" y="2596896"/>
            <a:ext cx="594360" cy="594360"/>
          </a:xfrm>
          <a:prstGeom prst="ellipse">
            <a:avLst/>
          </a:prstGeom>
          <a:solidFill>
            <a:schemeClr val="accent4"/>
          </a:solidFill>
          <a:ln w="19050">
            <a:solidFill>
              <a:schemeClr val="bg1"/>
            </a:solidFill>
            <a:prstDash val="solid"/>
          </a:ln>
        </p:spPr>
      </p:sp>
      <p:pic>
        <p:nvPicPr>
          <p:cNvPr id="10" name="ux 2 icon" descr="preencoded.png">    </p:cNvPr>
          <p:cNvPicPr>
            <a:picLocks noChangeAspect="1"/>
          </p:cNvPicPr>
          <p:nvPr/>
        </p:nvPicPr>
        <p:blipFill>
          <a:blip r:embed="rId3"/>
          <a:stretch>
            <a:fillRect/>
          </a:stretch>
        </p:blipFill>
        <p:spPr>
          <a:xfrm>
            <a:off x="7777886" y="2739542"/>
            <a:ext cx="309067" cy="309067"/>
          </a:xfrm>
          <a:prstGeom prst="rect">
            <a:avLst/>
          </a:prstGeom>
        </p:spPr>
      </p:pic>
      <p:sp>
        <p:nvSpPr>
          <p:cNvPr id="11" name="ux title 2"/>
          <p:cNvSpPr txBox="1"/>
          <p:nvPr/>
        </p:nvSpPr>
        <p:spPr>
          <a:xfrm>
            <a:off x="8412480" y="2578608"/>
            <a:ext cx="3200400" cy="347472"/>
          </a:xfrm>
          <a:prstGeom prst="rect">
            <a:avLst/>
          </a:prstGeom>
          <a:noFill/>
          <a:ln/>
        </p:spPr>
        <p:txBody>
          <a:bodyPr wrap="square" lIns="0" tIns="0" rIns="0" bIns="0" rtlCol="0" anchor="t"/>
          <a:lstStyle/>
          <a:p>
            <a:pPr indent="0" marL="0">
              <a:buNone/>
            </a:pPr>
            <a:r>
              <a:rPr lang="en-US" sz="1700" b="1" dirty="0">
                <a:solidFill>
                  <a:schemeClr val="tx1"/>
                </a:solidFill>
              </a:rPr>
              <a:t>Liquid glass</a:t>
            </a:r>
            <a:endParaRPr lang="en-US" sz="1700" dirty="0"/>
          </a:p>
        </p:txBody>
      </p:sp>
      <p:sp>
        <p:nvSpPr>
          <p:cNvPr id="12" name="ux body 2"/>
          <p:cNvSpPr txBox="1"/>
          <p:nvPr/>
        </p:nvSpPr>
        <p:spPr>
          <a:xfrm>
            <a:off x="8412480" y="2926080"/>
            <a:ext cx="3200400" cy="658368"/>
          </a:xfrm>
          <a:prstGeom prst="rect">
            <a:avLst/>
          </a:prstGeom>
          <a:noFill/>
          <a:ln/>
        </p:spPr>
        <p:txBody>
          <a:bodyPr wrap="square" lIns="0" tIns="0" rIns="0" bIns="0" rtlCol="0" anchor="t"/>
          <a:lstStyle/>
          <a:p>
            <a:pPr indent="0" marL="0">
              <a:buNone/>
            </a:pPr>
            <a:r>
              <a:rPr lang="en-US" sz="1400" dirty="0">
                <a:solidFill>
                  <a:srgbClr val="4A5A4F"/>
                </a:solidFill>
              </a:rPr>
              <a:t>Frosted panels over a living, drifting backdrop.</a:t>
            </a:r>
            <a:endParaRPr lang="en-US" sz="1400" dirty="0"/>
          </a:p>
        </p:txBody>
      </p:sp>
      <p:sp>
        <p:nvSpPr>
          <p:cNvPr id="13" name="ux 3 circle"/>
          <p:cNvSpPr/>
          <p:nvPr/>
        </p:nvSpPr>
        <p:spPr>
          <a:xfrm>
            <a:off x="7635240" y="3621024"/>
            <a:ext cx="594360" cy="594360"/>
          </a:xfrm>
          <a:prstGeom prst="ellipse">
            <a:avLst/>
          </a:prstGeom>
          <a:solidFill>
            <a:schemeClr val="accent4"/>
          </a:solidFill>
          <a:ln w="19050">
            <a:solidFill>
              <a:schemeClr val="bg1"/>
            </a:solidFill>
            <a:prstDash val="solid"/>
          </a:ln>
        </p:spPr>
      </p:sp>
      <p:pic>
        <p:nvPicPr>
          <p:cNvPr id="14" name="ux 3 icon" descr="preencoded.png">    </p:cNvPr>
          <p:cNvPicPr>
            <a:picLocks noChangeAspect="1"/>
          </p:cNvPicPr>
          <p:nvPr/>
        </p:nvPicPr>
        <p:blipFill>
          <a:blip r:embed="rId4"/>
          <a:stretch>
            <a:fillRect/>
          </a:stretch>
        </p:blipFill>
        <p:spPr>
          <a:xfrm>
            <a:off x="7777886" y="3763670"/>
            <a:ext cx="309067" cy="309067"/>
          </a:xfrm>
          <a:prstGeom prst="rect">
            <a:avLst/>
          </a:prstGeom>
        </p:spPr>
      </p:pic>
      <p:sp>
        <p:nvSpPr>
          <p:cNvPr id="15" name="ux title 3"/>
          <p:cNvSpPr txBox="1"/>
          <p:nvPr/>
        </p:nvSpPr>
        <p:spPr>
          <a:xfrm>
            <a:off x="8412480" y="3602736"/>
            <a:ext cx="3200400" cy="347472"/>
          </a:xfrm>
          <a:prstGeom prst="rect">
            <a:avLst/>
          </a:prstGeom>
          <a:noFill/>
          <a:ln/>
        </p:spPr>
        <p:txBody>
          <a:bodyPr wrap="square" lIns="0" tIns="0" rIns="0" bIns="0" rtlCol="0" anchor="t"/>
          <a:lstStyle/>
          <a:p>
            <a:pPr indent="0" marL="0">
              <a:buNone/>
            </a:pPr>
            <a:r>
              <a:rPr lang="en-US" sz="1700" b="1" dirty="0">
                <a:solidFill>
                  <a:schemeClr val="tx1"/>
                </a:solidFill>
              </a:rPr>
              <a:t>Mobile-first</a:t>
            </a:r>
            <a:endParaRPr lang="en-US" sz="1700" dirty="0"/>
          </a:p>
        </p:txBody>
      </p:sp>
      <p:sp>
        <p:nvSpPr>
          <p:cNvPr id="16" name="ux body 3"/>
          <p:cNvSpPr txBox="1"/>
          <p:nvPr/>
        </p:nvSpPr>
        <p:spPr>
          <a:xfrm>
            <a:off x="8412480" y="3950208"/>
            <a:ext cx="3200400" cy="658368"/>
          </a:xfrm>
          <a:prstGeom prst="rect">
            <a:avLst/>
          </a:prstGeom>
          <a:noFill/>
          <a:ln/>
        </p:spPr>
        <p:txBody>
          <a:bodyPr wrap="square" lIns="0" tIns="0" rIns="0" bIns="0" rtlCol="0" anchor="t"/>
          <a:lstStyle/>
          <a:p>
            <a:pPr indent="0" marL="0">
              <a:buNone/>
            </a:pPr>
            <a:r>
              <a:rPr lang="en-US" sz="1400" dirty="0">
                <a:solidFill>
                  <a:srgbClr val="4A5A4F"/>
                </a:solidFill>
              </a:rPr>
              <a:t>Phone dock, swipeable cards, thumb-sized buttons.</a:t>
            </a:r>
            <a:endParaRPr lang="en-US" sz="1400" dirty="0"/>
          </a:p>
        </p:txBody>
      </p:sp>
      <p:sp>
        <p:nvSpPr>
          <p:cNvPr id="17" name="ux 4 circle"/>
          <p:cNvSpPr/>
          <p:nvPr/>
        </p:nvSpPr>
        <p:spPr>
          <a:xfrm>
            <a:off x="7635240" y="4645152"/>
            <a:ext cx="594360" cy="594360"/>
          </a:xfrm>
          <a:prstGeom prst="ellipse">
            <a:avLst/>
          </a:prstGeom>
          <a:solidFill>
            <a:schemeClr val="accent4"/>
          </a:solidFill>
          <a:ln w="19050">
            <a:solidFill>
              <a:schemeClr val="bg1"/>
            </a:solidFill>
            <a:prstDash val="solid"/>
          </a:ln>
        </p:spPr>
      </p:sp>
      <p:pic>
        <p:nvPicPr>
          <p:cNvPr id="18" name="ux 4 icon" descr="preencoded.png">    </p:cNvPr>
          <p:cNvPicPr>
            <a:picLocks noChangeAspect="1"/>
          </p:cNvPicPr>
          <p:nvPr/>
        </p:nvPicPr>
        <p:blipFill>
          <a:blip r:embed="rId5"/>
          <a:stretch>
            <a:fillRect/>
          </a:stretch>
        </p:blipFill>
        <p:spPr>
          <a:xfrm>
            <a:off x="7777886" y="4787798"/>
            <a:ext cx="309067" cy="309067"/>
          </a:xfrm>
          <a:prstGeom prst="rect">
            <a:avLst/>
          </a:prstGeom>
        </p:spPr>
      </p:pic>
      <p:sp>
        <p:nvSpPr>
          <p:cNvPr id="19" name="ux title 4"/>
          <p:cNvSpPr txBox="1"/>
          <p:nvPr/>
        </p:nvSpPr>
        <p:spPr>
          <a:xfrm>
            <a:off x="8412480" y="4626864"/>
            <a:ext cx="3200400" cy="347472"/>
          </a:xfrm>
          <a:prstGeom prst="rect">
            <a:avLst/>
          </a:prstGeom>
          <a:noFill/>
          <a:ln/>
        </p:spPr>
        <p:txBody>
          <a:bodyPr wrap="square" lIns="0" tIns="0" rIns="0" bIns="0" rtlCol="0" anchor="t"/>
          <a:lstStyle/>
          <a:p>
            <a:pPr indent="0" marL="0">
              <a:buNone/>
            </a:pPr>
            <a:r>
              <a:rPr lang="en-US" sz="1700" b="1" dirty="0">
                <a:solidFill>
                  <a:schemeClr val="tx1"/>
                </a:solidFill>
              </a:rPr>
              <a:t>Accessible and light</a:t>
            </a:r>
            <a:endParaRPr lang="en-US" sz="1700" dirty="0"/>
          </a:p>
        </p:txBody>
      </p:sp>
      <p:sp>
        <p:nvSpPr>
          <p:cNvPr id="20" name="ux body 4"/>
          <p:cNvSpPr txBox="1"/>
          <p:nvPr/>
        </p:nvSpPr>
        <p:spPr>
          <a:xfrm>
            <a:off x="8412480" y="4974336"/>
            <a:ext cx="3200400" cy="658368"/>
          </a:xfrm>
          <a:prstGeom prst="rect">
            <a:avLst/>
          </a:prstGeom>
          <a:noFill/>
          <a:ln/>
        </p:spPr>
        <p:txBody>
          <a:bodyPr wrap="square" lIns="0" tIns="0" rIns="0" bIns="0" rtlCol="0" anchor="t"/>
          <a:lstStyle/>
          <a:p>
            <a:pPr indent="0" marL="0">
              <a:buNone/>
            </a:pPr>
            <a:r>
              <a:rPr lang="en-US" sz="1400" dirty="0">
                <a:solidFill>
                  <a:srgbClr val="4A5A4F"/>
                </a:solidFill>
              </a:rPr>
              <a:t>Keyboard support, alt text, reduced motion, tiny SVG.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How Wildlands meets the judging criteria</a:t>
            </a:r>
            <a:endParaRPr lang="en-US" sz="3400" dirty="0"/>
          </a:p>
        </p:txBody>
      </p:sp>
      <p:sp>
        <p:nvSpPr>
          <p:cNvPr id="3" name="criteria card 1"/>
          <p:cNvSpPr/>
          <p:nvPr/>
        </p:nvSpPr>
        <p:spPr>
          <a:xfrm>
            <a:off x="548640" y="1417320"/>
            <a:ext cx="2578608" cy="461772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4" name="criteria pct 1"/>
          <p:cNvSpPr txBox="1"/>
          <p:nvPr/>
        </p:nvSpPr>
        <p:spPr>
          <a:xfrm>
            <a:off x="804672" y="1554480"/>
            <a:ext cx="2103120" cy="868680"/>
          </a:xfrm>
          <a:prstGeom prst="rect">
            <a:avLst/>
          </a:prstGeom>
          <a:noFill/>
          <a:ln/>
        </p:spPr>
        <p:txBody>
          <a:bodyPr wrap="square" lIns="0" tIns="0" rIns="0" bIns="0" rtlCol="0" anchor="t"/>
          <a:lstStyle/>
          <a:p>
            <a:pPr indent="0" marL="0">
              <a:buNone/>
            </a:pPr>
            <a:r>
              <a:rPr lang="en-US" sz="5400" b="1" dirty="0">
                <a:solidFill>
                  <a:schemeClr val="accent1"/>
                </a:solidFill>
              </a:rPr>
              <a:t>30%</a:t>
            </a:r>
            <a:endParaRPr lang="en-US" sz="5400" dirty="0"/>
          </a:p>
        </p:txBody>
      </p:sp>
      <p:sp>
        <p:nvSpPr>
          <p:cNvPr id="5" name="criteria name 1"/>
          <p:cNvSpPr txBox="1"/>
          <p:nvPr/>
        </p:nvSpPr>
        <p:spPr>
          <a:xfrm>
            <a:off x="804672" y="2468880"/>
            <a:ext cx="2103120" cy="685800"/>
          </a:xfrm>
          <a:prstGeom prst="rect">
            <a:avLst/>
          </a:prstGeom>
          <a:noFill/>
          <a:ln/>
        </p:spPr>
        <p:txBody>
          <a:bodyPr wrap="square" lIns="0" tIns="0" rIns="0" bIns="0" rtlCol="0" anchor="t"/>
          <a:lstStyle/>
          <a:p>
            <a:pPr indent="0" marL="0">
              <a:buNone/>
            </a:pPr>
            <a:r>
              <a:rPr lang="en-US" sz="1800" b="1" dirty="0">
                <a:solidFill>
                  <a:schemeClr val="tx1"/>
                </a:solidFill>
              </a:rPr>
              <a:t>Technical Architecture</a:t>
            </a:r>
            <a:endParaRPr lang="en-US" sz="1800" dirty="0"/>
          </a:p>
        </p:txBody>
      </p:sp>
      <p:sp>
        <p:nvSpPr>
          <p:cNvPr id="6" name="criteria points 1"/>
          <p:cNvSpPr txBox="1"/>
          <p:nvPr/>
        </p:nvSpPr>
        <p:spPr>
          <a:xfrm>
            <a:off x="804672" y="3246120"/>
            <a:ext cx="21488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A4F"/>
                </a:solidFill>
              </a:rPr>
              <a:t>Next.js App Router, server components and actions</a:t>
            </a:r>
            <a:endParaRPr lang="en-US" sz="1400" dirty="0"/>
          </a:p>
          <a:p>
            <a:pPr marL="342900" indent="-342900">
              <a:spcAft>
                <a:spcPts val="800"/>
              </a:spcAft>
              <a:buSzPct val="100000"/>
              <a:buChar char="•"/>
            </a:pPr>
            <a:r>
              <a:rPr lang="en-US" sz="1400" dirty="0">
                <a:solidFill>
                  <a:srgbClr val="4A5A4F"/>
                </a:solidFill>
              </a:rPr>
              <a:t>Supabase Postgres with Row Level Security</a:t>
            </a:r>
            <a:endParaRPr lang="en-US" sz="1400" dirty="0"/>
          </a:p>
          <a:p>
            <a:pPr marL="342900" indent="-342900">
              <a:spcAft>
                <a:spcPts val="800"/>
              </a:spcAft>
              <a:buSzPct val="100000"/>
              <a:buChar char="•"/>
            </a:pPr>
            <a:r>
              <a:rPr lang="en-US" sz="1400" dirty="0">
                <a:solidFill>
                  <a:srgbClr val="4A5A4F"/>
                </a:solidFill>
              </a:rPr>
              <a:t>Clean split: member pages, admin, shared components</a:t>
            </a:r>
            <a:endParaRPr lang="en-US" sz="1400" dirty="0"/>
          </a:p>
        </p:txBody>
      </p:sp>
      <p:sp>
        <p:nvSpPr>
          <p:cNvPr id="7" name="criteria card 2"/>
          <p:cNvSpPr/>
          <p:nvPr/>
        </p:nvSpPr>
        <p:spPr>
          <a:xfrm>
            <a:off x="3383280" y="1417320"/>
            <a:ext cx="2578608" cy="461772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8" name="criteria pct 2"/>
          <p:cNvSpPr txBox="1"/>
          <p:nvPr/>
        </p:nvSpPr>
        <p:spPr>
          <a:xfrm>
            <a:off x="3639312" y="1554480"/>
            <a:ext cx="2103120" cy="868680"/>
          </a:xfrm>
          <a:prstGeom prst="rect">
            <a:avLst/>
          </a:prstGeom>
          <a:noFill/>
          <a:ln/>
        </p:spPr>
        <p:txBody>
          <a:bodyPr wrap="square" lIns="0" tIns="0" rIns="0" bIns="0" rtlCol="0" anchor="t"/>
          <a:lstStyle/>
          <a:p>
            <a:pPr indent="0" marL="0">
              <a:buNone/>
            </a:pPr>
            <a:r>
              <a:rPr lang="en-US" sz="5400" b="1" dirty="0">
                <a:solidFill>
                  <a:schemeClr val="accent3"/>
                </a:solidFill>
              </a:rPr>
              <a:t>30%</a:t>
            </a:r>
            <a:endParaRPr lang="en-US" sz="5400" dirty="0"/>
          </a:p>
        </p:txBody>
      </p:sp>
      <p:sp>
        <p:nvSpPr>
          <p:cNvPr id="9" name="criteria name 2"/>
          <p:cNvSpPr txBox="1"/>
          <p:nvPr/>
        </p:nvSpPr>
        <p:spPr>
          <a:xfrm>
            <a:off x="3639312" y="2468880"/>
            <a:ext cx="2103120" cy="685800"/>
          </a:xfrm>
          <a:prstGeom prst="rect">
            <a:avLst/>
          </a:prstGeom>
          <a:noFill/>
          <a:ln/>
        </p:spPr>
        <p:txBody>
          <a:bodyPr wrap="square" lIns="0" tIns="0" rIns="0" bIns="0" rtlCol="0" anchor="t"/>
          <a:lstStyle/>
          <a:p>
            <a:pPr indent="0" marL="0">
              <a:buNone/>
            </a:pPr>
            <a:r>
              <a:rPr lang="en-US" sz="1800" b="1" dirty="0">
                <a:solidFill>
                  <a:schemeClr val="tx1"/>
                </a:solidFill>
              </a:rPr>
              <a:t>Relevance &amp; Utility</a:t>
            </a:r>
            <a:endParaRPr lang="en-US" sz="1800" dirty="0"/>
          </a:p>
        </p:txBody>
      </p:sp>
      <p:sp>
        <p:nvSpPr>
          <p:cNvPr id="10" name="criteria points 2"/>
          <p:cNvSpPr txBox="1"/>
          <p:nvPr/>
        </p:nvSpPr>
        <p:spPr>
          <a:xfrm>
            <a:off x="3639312" y="3246120"/>
            <a:ext cx="21488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A4F"/>
                </a:solidFill>
              </a:rPr>
              <a:t>Tackles drift-away and unseen effort directly</a:t>
            </a:r>
            <a:endParaRPr lang="en-US" sz="1400" dirty="0"/>
          </a:p>
          <a:p>
            <a:pPr marL="342900" indent="-342900">
              <a:spcAft>
                <a:spcPts val="800"/>
              </a:spcAft>
              <a:buSzPct val="100000"/>
              <a:buChar char="•"/>
            </a:pPr>
            <a:r>
              <a:rPr lang="en-US" sz="1400" dirty="0">
                <a:solidFill>
                  <a:srgbClr val="4A5A4F"/>
                </a:solidFill>
              </a:rPr>
              <a:t>All nine houses ready out of the box</a:t>
            </a:r>
            <a:endParaRPr lang="en-US" sz="1400" dirty="0"/>
          </a:p>
          <a:p>
            <a:pPr marL="342900" indent="-342900">
              <a:spcAft>
                <a:spcPts val="800"/>
              </a:spcAft>
              <a:buSzPct val="100000"/>
              <a:buChar char="•"/>
            </a:pPr>
            <a:r>
              <a:rPr lang="en-US" sz="1400" dirty="0">
                <a:solidFill>
                  <a:srgbClr val="4A5A4F"/>
                </a:solidFill>
              </a:rPr>
              <a:t>Free to run on Vercel and Supabase</a:t>
            </a:r>
            <a:endParaRPr lang="en-US" sz="1400" dirty="0"/>
          </a:p>
        </p:txBody>
      </p:sp>
      <p:sp>
        <p:nvSpPr>
          <p:cNvPr id="11" name="criteria card 3"/>
          <p:cNvSpPr/>
          <p:nvPr/>
        </p:nvSpPr>
        <p:spPr>
          <a:xfrm>
            <a:off x="6217920" y="1417320"/>
            <a:ext cx="2578608" cy="461772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2" name="criteria pct 3"/>
          <p:cNvSpPr txBox="1"/>
          <p:nvPr/>
        </p:nvSpPr>
        <p:spPr>
          <a:xfrm>
            <a:off x="6473952" y="1554480"/>
            <a:ext cx="2103120" cy="868680"/>
          </a:xfrm>
          <a:prstGeom prst="rect">
            <a:avLst/>
          </a:prstGeom>
          <a:noFill/>
          <a:ln/>
        </p:spPr>
        <p:txBody>
          <a:bodyPr wrap="square" lIns="0" tIns="0" rIns="0" bIns="0" rtlCol="0" anchor="t"/>
          <a:lstStyle/>
          <a:p>
            <a:pPr indent="0" marL="0">
              <a:buNone/>
            </a:pPr>
            <a:r>
              <a:rPr lang="en-US" sz="5400" b="1" dirty="0">
                <a:solidFill>
                  <a:schemeClr val="accent4"/>
                </a:solidFill>
              </a:rPr>
              <a:t>20%</a:t>
            </a:r>
            <a:endParaRPr lang="en-US" sz="5400" dirty="0"/>
          </a:p>
        </p:txBody>
      </p:sp>
      <p:sp>
        <p:nvSpPr>
          <p:cNvPr id="13" name="criteria name 3"/>
          <p:cNvSpPr txBox="1"/>
          <p:nvPr/>
        </p:nvSpPr>
        <p:spPr>
          <a:xfrm>
            <a:off x="6473952" y="2468880"/>
            <a:ext cx="2103120" cy="685800"/>
          </a:xfrm>
          <a:prstGeom prst="rect">
            <a:avLst/>
          </a:prstGeom>
          <a:noFill/>
          <a:ln/>
        </p:spPr>
        <p:txBody>
          <a:bodyPr wrap="square" lIns="0" tIns="0" rIns="0" bIns="0" rtlCol="0" anchor="t"/>
          <a:lstStyle/>
          <a:p>
            <a:pPr indent="0" marL="0">
              <a:buNone/>
            </a:pPr>
            <a:r>
              <a:rPr lang="en-US" sz="1800" b="1" dirty="0">
                <a:solidFill>
                  <a:schemeClr val="tx1"/>
                </a:solidFill>
              </a:rPr>
              <a:t>UI/UX &amp; Performance</a:t>
            </a:r>
            <a:endParaRPr lang="en-US" sz="1800" dirty="0"/>
          </a:p>
        </p:txBody>
      </p:sp>
      <p:sp>
        <p:nvSpPr>
          <p:cNvPr id="14" name="criteria points 3"/>
          <p:cNvSpPr txBox="1"/>
          <p:nvPr/>
        </p:nvSpPr>
        <p:spPr>
          <a:xfrm>
            <a:off x="6473952" y="3246120"/>
            <a:ext cx="21488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A4F"/>
                </a:solidFill>
              </a:rPr>
              <a:t>Mobile-first liquid glass and 3D</a:t>
            </a:r>
            <a:endParaRPr lang="en-US" sz="1400" dirty="0"/>
          </a:p>
          <a:p>
            <a:pPr marL="342900" indent="-342900">
              <a:spcAft>
                <a:spcPts val="800"/>
              </a:spcAft>
              <a:buSzPct val="100000"/>
              <a:buChar char="•"/>
            </a:pPr>
            <a:r>
              <a:rPr lang="en-US" sz="1400" dirty="0">
                <a:solidFill>
                  <a:srgbClr val="4A5A4F"/>
                </a:solidFill>
              </a:rPr>
              <a:t>Tiny SVG artwork, no heavy images</a:t>
            </a:r>
            <a:endParaRPr lang="en-US" sz="1400" dirty="0"/>
          </a:p>
          <a:p>
            <a:pPr marL="342900" indent="-342900">
              <a:spcAft>
                <a:spcPts val="800"/>
              </a:spcAft>
              <a:buSzPct val="100000"/>
              <a:buChar char="•"/>
            </a:pPr>
            <a:r>
              <a:rPr lang="en-US" sz="1400" dirty="0">
                <a:solidFill>
                  <a:srgbClr val="4A5A4F"/>
                </a:solidFill>
              </a:rPr>
              <a:t>Keyboard and reduced-motion friendly</a:t>
            </a:r>
            <a:endParaRPr lang="en-US" sz="1400" dirty="0"/>
          </a:p>
        </p:txBody>
      </p:sp>
      <p:sp>
        <p:nvSpPr>
          <p:cNvPr id="15" name="criteria card 4"/>
          <p:cNvSpPr/>
          <p:nvPr/>
        </p:nvSpPr>
        <p:spPr>
          <a:xfrm>
            <a:off x="9052560" y="1417320"/>
            <a:ext cx="2578608" cy="4617720"/>
          </a:xfrm>
          <a:prstGeom prst="roundRect">
            <a:avLst>
              <a:gd name="adj" fmla="val 6383"/>
            </a:avLst>
          </a:prstGeom>
          <a:solidFill>
            <a:schemeClr val="bg1">
              <a:alpha val="62000"/>
            </a:schemeClr>
          </a:solidFill>
          <a:ln w="15875">
            <a:solidFill>
              <a:schemeClr val="bg1">
                <a:alpha val="90000"/>
              </a:schemeClr>
            </a:solidFill>
            <a:prstDash val="solid"/>
          </a:ln>
          <a:effectLst>
            <a:outerShdw sx="100000" sy="100000" kx="0" ky="0" algn="bl" rotWithShape="0" blurRad="177800" dist="50800" dir="5400000">
              <a:srgbClr val="0E341E">
                <a:alpha val="16000"/>
              </a:srgbClr>
            </a:outerShdw>
          </a:effectLst>
        </p:spPr>
      </p:sp>
      <p:sp>
        <p:nvSpPr>
          <p:cNvPr id="16" name="criteria pct 4"/>
          <p:cNvSpPr txBox="1"/>
          <p:nvPr/>
        </p:nvSpPr>
        <p:spPr>
          <a:xfrm>
            <a:off x="9308592" y="1554480"/>
            <a:ext cx="2103120" cy="868680"/>
          </a:xfrm>
          <a:prstGeom prst="rect">
            <a:avLst/>
          </a:prstGeom>
          <a:noFill/>
          <a:ln/>
        </p:spPr>
        <p:txBody>
          <a:bodyPr wrap="square" lIns="0" tIns="0" rIns="0" bIns="0" rtlCol="0" anchor="t"/>
          <a:lstStyle/>
          <a:p>
            <a:pPr indent="0" marL="0">
              <a:buNone/>
            </a:pPr>
            <a:r>
              <a:rPr lang="en-US" sz="5400" b="1" dirty="0">
                <a:solidFill>
                  <a:schemeClr val="accent6"/>
                </a:solidFill>
              </a:rPr>
              <a:t>20%</a:t>
            </a:r>
            <a:endParaRPr lang="en-US" sz="5400" dirty="0"/>
          </a:p>
        </p:txBody>
      </p:sp>
      <p:sp>
        <p:nvSpPr>
          <p:cNvPr id="17" name="criteria name 4"/>
          <p:cNvSpPr txBox="1"/>
          <p:nvPr/>
        </p:nvSpPr>
        <p:spPr>
          <a:xfrm>
            <a:off x="9308592" y="2468880"/>
            <a:ext cx="2103120" cy="685800"/>
          </a:xfrm>
          <a:prstGeom prst="rect">
            <a:avLst/>
          </a:prstGeom>
          <a:noFill/>
          <a:ln/>
        </p:spPr>
        <p:txBody>
          <a:bodyPr wrap="square" lIns="0" tIns="0" rIns="0" bIns="0" rtlCol="0" anchor="t"/>
          <a:lstStyle/>
          <a:p>
            <a:pPr indent="0" marL="0">
              <a:buNone/>
            </a:pPr>
            <a:r>
              <a:rPr lang="en-US" sz="1800" b="1" dirty="0">
                <a:solidFill>
                  <a:schemeClr val="tx1"/>
                </a:solidFill>
              </a:rPr>
              <a:t>Admin Usability</a:t>
            </a:r>
            <a:endParaRPr lang="en-US" sz="1800" dirty="0"/>
          </a:p>
        </p:txBody>
      </p:sp>
      <p:sp>
        <p:nvSpPr>
          <p:cNvPr id="18" name="criteria points 4"/>
          <p:cNvSpPr txBox="1"/>
          <p:nvPr/>
        </p:nvSpPr>
        <p:spPr>
          <a:xfrm>
            <a:off x="9308592" y="3246120"/>
            <a:ext cx="21488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A4F"/>
                </a:solidFill>
              </a:rPr>
              <a:t>Approve in one tap, or in bulk</a:t>
            </a:r>
            <a:endParaRPr lang="en-US" sz="1400" dirty="0"/>
          </a:p>
          <a:p>
            <a:pPr marL="342900" indent="-342900">
              <a:spcAft>
                <a:spcPts val="800"/>
              </a:spcAft>
              <a:buSzPct val="100000"/>
              <a:buChar char="•"/>
            </a:pPr>
            <a:r>
              <a:rPr lang="en-US" sz="1400" dirty="0">
                <a:solidFill>
                  <a:srgbClr val="4A5A4F"/>
                </a:solidFill>
              </a:rPr>
              <a:t>Quests, lore, trivia, badges: all forms</a:t>
            </a:r>
            <a:endParaRPr lang="en-US" sz="1400" dirty="0"/>
          </a:p>
          <a:p>
            <a:pPr marL="342900" indent="-342900">
              <a:spcAft>
                <a:spcPts val="800"/>
              </a:spcAft>
              <a:buSzPct val="100000"/>
              <a:buChar char="•"/>
            </a:pPr>
            <a:r>
              <a:rPr lang="en-US" sz="1400" dirty="0">
                <a:solidFill>
                  <a:srgbClr val="4A5A4F"/>
                </a:solidFill>
              </a:rPr>
              <a:t>Quiet-member list and activity 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4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972800" cy="1051560"/>
          </a:xfrm>
          <a:prstGeom prst="rect">
            <a:avLst/>
          </a:prstGeom>
          <a:noFill/>
          <a:ln/>
        </p:spPr>
        <p:txBody>
          <a:bodyPr wrap="square" lIns="0" tIns="0" rIns="0" bIns="0" rtlCol="0" anchor="ctr"/>
          <a:lstStyle/>
          <a:p>
            <a:pPr algn="l" indent="0" marL="0">
              <a:buNone/>
            </a:pPr>
            <a:r>
              <a:rPr lang="en-US" sz="5400" b="1" dirty="0">
                <a:solidFill>
                  <a:schemeClr val="bg1"/>
                </a:solidFill>
              </a:rPr>
              <a:t>Plant the first seed today</a:t>
            </a:r>
            <a:endParaRPr lang="en-US" sz="5400" dirty="0"/>
          </a:p>
        </p:txBody>
      </p:sp>
      <p:sp>
        <p:nvSpPr>
          <p:cNvPr id="3" name="Text 0"/>
          <p:cNvSpPr/>
          <p:nvPr>
            <p:ph idx="101" type="body" hasCustomPrompt="1"/>
          </p:nvPr>
        </p:nvSpPr>
        <p:spPr>
          <a:xfrm>
            <a:off x="640080" y="2560320"/>
            <a:ext cx="10972800" cy="548640"/>
          </a:xfrm>
          <a:prstGeom prst="rect">
            <a:avLst/>
          </a:prstGeom>
          <a:noFill/>
          <a:ln/>
        </p:spPr>
        <p:txBody>
          <a:bodyPr wrap="square" lIns="0" tIns="0" rIns="0" bIns="0" rtlCol="0" anchor="t"/>
          <a:lstStyle/>
          <a:p>
            <a:pPr indent="0" marL="0">
              <a:buNone/>
            </a:pPr>
            <a:r>
              <a:rPr lang="en-US" sz="2400" dirty="0">
                <a:solidFill>
                  <a:schemeClr val="bg2"/>
                </a:solidFill>
              </a:rPr>
              <a:t>Wildlands · a living house ecosystem</a:t>
            </a:r>
            <a:endParaRPr lang="en-US" sz="2400" dirty="0"/>
          </a:p>
        </p:txBody>
      </p:sp>
      <p:sp>
        <p:nvSpPr>
          <p:cNvPr id="4" name="closing card 1"/>
          <p:cNvSpPr/>
          <p:nvPr/>
        </p:nvSpPr>
        <p:spPr>
          <a:xfrm>
            <a:off x="640080" y="3977640"/>
            <a:ext cx="3520440" cy="2011680"/>
          </a:xfrm>
          <a:prstGeom prst="roundRect">
            <a:avLst>
              <a:gd name="adj" fmla="val 8182"/>
            </a:avLst>
          </a:prstGeom>
          <a:solidFill>
            <a:schemeClr val="bg1">
              <a:alpha val="12000"/>
            </a:schemeClr>
          </a:solidFill>
          <a:ln w="15875">
            <a:solidFill>
              <a:schemeClr val="bg1">
                <a:alpha val="45000"/>
              </a:schemeClr>
            </a:solidFill>
            <a:prstDash val="solid"/>
          </a:ln>
          <a:effectLst>
            <a:outerShdw sx="100000" sy="100000" kx="0" ky="0" algn="bl" rotWithShape="0" blurRad="177800" dist="50800" dir="5400000">
              <a:srgbClr val="000000">
                <a:alpha val="30000"/>
              </a:srgbClr>
            </a:outerShdw>
          </a:effectLst>
        </p:spPr>
      </p:sp>
      <p:sp>
        <p:nvSpPr>
          <p:cNvPr id="5" name="closing 1 circle"/>
          <p:cNvSpPr/>
          <p:nvPr/>
        </p:nvSpPr>
        <p:spPr>
          <a:xfrm>
            <a:off x="914400" y="4206240"/>
            <a:ext cx="548640" cy="548640"/>
          </a:xfrm>
          <a:prstGeom prst="ellipse">
            <a:avLst/>
          </a:prstGeom>
          <a:solidFill>
            <a:schemeClr val="accent1"/>
          </a:solidFill>
          <a:ln w="19050">
            <a:solidFill>
              <a:schemeClr val="bg1"/>
            </a:solidFill>
            <a:prstDash val="solid"/>
          </a:ln>
        </p:spPr>
      </p:sp>
      <p:pic>
        <p:nvPicPr>
          <p:cNvPr id="6" name="closing 1 icon" descr="preencoded.png">    </p:cNvPr>
          <p:cNvPicPr>
            <a:picLocks noChangeAspect="1"/>
          </p:cNvPicPr>
          <p:nvPr/>
        </p:nvPicPr>
        <p:blipFill>
          <a:blip r:embed="rId1"/>
          <a:stretch>
            <a:fillRect/>
          </a:stretch>
        </p:blipFill>
        <p:spPr>
          <a:xfrm>
            <a:off x="1046074" y="4337914"/>
            <a:ext cx="285293" cy="285293"/>
          </a:xfrm>
          <a:prstGeom prst="rect">
            <a:avLst/>
          </a:prstGeom>
        </p:spPr>
      </p:pic>
      <p:sp>
        <p:nvSpPr>
          <p:cNvPr id="7" name="closing title 1"/>
          <p:cNvSpPr txBox="1"/>
          <p:nvPr/>
        </p:nvSpPr>
        <p:spPr>
          <a:xfrm>
            <a:off x="1600200" y="4206240"/>
            <a:ext cx="2377440" cy="548640"/>
          </a:xfrm>
          <a:prstGeom prst="rect">
            <a:avLst/>
          </a:prstGeom>
          <a:noFill/>
          <a:ln/>
        </p:spPr>
        <p:txBody>
          <a:bodyPr wrap="square" lIns="0" tIns="0" rIns="0" bIns="0" rtlCol="0" anchor="ctr"/>
          <a:lstStyle/>
          <a:p>
            <a:pPr indent="0" marL="0">
              <a:buNone/>
            </a:pPr>
            <a:r>
              <a:rPr lang="en-US" sz="1700" b="1" dirty="0">
                <a:solidFill>
                  <a:schemeClr val="bg1"/>
                </a:solidFill>
              </a:rPr>
              <a:t>Try it in one minute</a:t>
            </a:r>
            <a:endParaRPr lang="en-US" sz="1700" dirty="0"/>
          </a:p>
        </p:txBody>
      </p:sp>
      <p:sp>
        <p:nvSpPr>
          <p:cNvPr id="8" name="closing body 1"/>
          <p:cNvSpPr txBox="1"/>
          <p:nvPr/>
        </p:nvSpPr>
        <p:spPr>
          <a:xfrm>
            <a:off x="914400" y="4892040"/>
            <a:ext cx="3017520" cy="960120"/>
          </a:xfrm>
          <a:prstGeom prst="rect">
            <a:avLst/>
          </a:prstGeom>
          <a:noFill/>
          <a:ln/>
        </p:spPr>
        <p:txBody>
          <a:bodyPr wrap="square" lIns="0" tIns="0" rIns="0" bIns="0" rtlCol="0" anchor="t"/>
          <a:lstStyle/>
          <a:p>
            <a:pPr indent="0" marL="0">
              <a:buNone/>
            </a:pPr>
            <a:r>
              <a:rPr lang="en-US" sz="1400" dirty="0">
                <a:solidFill>
                  <a:schemeClr val="bg2"/>
                </a:solidFill>
              </a:rPr>
              <a:t>Run npm install, then npm run dev. Demo mode loads 9 houses, 30 members and 20 quests.</a:t>
            </a:r>
            <a:endParaRPr lang="en-US" sz="1400" dirty="0"/>
          </a:p>
        </p:txBody>
      </p:sp>
      <p:sp>
        <p:nvSpPr>
          <p:cNvPr id="9" name="closing card 2"/>
          <p:cNvSpPr/>
          <p:nvPr/>
        </p:nvSpPr>
        <p:spPr>
          <a:xfrm>
            <a:off x="4389120" y="3977640"/>
            <a:ext cx="3520440" cy="2011680"/>
          </a:xfrm>
          <a:prstGeom prst="roundRect">
            <a:avLst>
              <a:gd name="adj" fmla="val 8182"/>
            </a:avLst>
          </a:prstGeom>
          <a:solidFill>
            <a:schemeClr val="bg1">
              <a:alpha val="12000"/>
            </a:schemeClr>
          </a:solidFill>
          <a:ln w="15875">
            <a:solidFill>
              <a:schemeClr val="bg1">
                <a:alpha val="45000"/>
              </a:schemeClr>
            </a:solidFill>
            <a:prstDash val="solid"/>
          </a:ln>
          <a:effectLst>
            <a:outerShdw sx="100000" sy="100000" kx="0" ky="0" algn="bl" rotWithShape="0" blurRad="177800" dist="50800" dir="5400000">
              <a:srgbClr val="000000">
                <a:alpha val="30000"/>
              </a:srgbClr>
            </a:outerShdw>
          </a:effectLst>
        </p:spPr>
      </p:sp>
      <p:sp>
        <p:nvSpPr>
          <p:cNvPr id="10" name="closing 2 circle"/>
          <p:cNvSpPr/>
          <p:nvPr/>
        </p:nvSpPr>
        <p:spPr>
          <a:xfrm>
            <a:off x="4663440" y="4206240"/>
            <a:ext cx="548640" cy="548640"/>
          </a:xfrm>
          <a:prstGeom prst="ellipse">
            <a:avLst/>
          </a:prstGeom>
          <a:solidFill>
            <a:schemeClr val="accent1"/>
          </a:solidFill>
          <a:ln w="19050">
            <a:solidFill>
              <a:schemeClr val="bg1"/>
            </a:solidFill>
            <a:prstDash val="solid"/>
          </a:ln>
        </p:spPr>
      </p:sp>
      <p:pic>
        <p:nvPicPr>
          <p:cNvPr id="11" name="closing 2 icon" descr="preencoded.png">    </p:cNvPr>
          <p:cNvPicPr>
            <a:picLocks noChangeAspect="1"/>
          </p:cNvPicPr>
          <p:nvPr/>
        </p:nvPicPr>
        <p:blipFill>
          <a:blip r:embed="rId2"/>
          <a:stretch>
            <a:fillRect/>
          </a:stretch>
        </p:blipFill>
        <p:spPr>
          <a:xfrm>
            <a:off x="4795114" y="4337914"/>
            <a:ext cx="285293" cy="285293"/>
          </a:xfrm>
          <a:prstGeom prst="rect">
            <a:avLst/>
          </a:prstGeom>
        </p:spPr>
      </p:pic>
      <p:sp>
        <p:nvSpPr>
          <p:cNvPr id="12" name="closing title 2"/>
          <p:cNvSpPr txBox="1"/>
          <p:nvPr/>
        </p:nvSpPr>
        <p:spPr>
          <a:xfrm>
            <a:off x="5349240" y="4206240"/>
            <a:ext cx="2377440" cy="548640"/>
          </a:xfrm>
          <a:prstGeom prst="rect">
            <a:avLst/>
          </a:prstGeom>
          <a:noFill/>
          <a:ln/>
        </p:spPr>
        <p:txBody>
          <a:bodyPr wrap="square" lIns="0" tIns="0" rIns="0" bIns="0" rtlCol="0" anchor="ctr"/>
          <a:lstStyle/>
          <a:p>
            <a:pPr indent="0" marL="0">
              <a:buNone/>
            </a:pPr>
            <a:r>
              <a:rPr lang="en-US" sz="1700" b="1" dirty="0">
                <a:solidFill>
                  <a:schemeClr val="bg1"/>
                </a:solidFill>
              </a:rPr>
              <a:t>Sample logins</a:t>
            </a:r>
            <a:endParaRPr lang="en-US" sz="1700" dirty="0"/>
          </a:p>
        </p:txBody>
      </p:sp>
      <p:sp>
        <p:nvSpPr>
          <p:cNvPr id="13" name="closing body 2"/>
          <p:cNvSpPr txBox="1"/>
          <p:nvPr/>
        </p:nvSpPr>
        <p:spPr>
          <a:xfrm>
            <a:off x="4663440" y="4892040"/>
            <a:ext cx="3017520" cy="960120"/>
          </a:xfrm>
          <a:prstGeom prst="rect">
            <a:avLst/>
          </a:prstGeom>
          <a:noFill/>
          <a:ln/>
        </p:spPr>
        <p:txBody>
          <a:bodyPr wrap="square" lIns="0" tIns="0" rIns="0" bIns="0" rtlCol="0" anchor="t"/>
          <a:lstStyle/>
          <a:p>
            <a:pPr indent="0" marL="0">
              <a:buNone/>
            </a:pPr>
            <a:r>
              <a:rPr lang="en-US" sz="1400" dirty="0">
                <a:solidFill>
                  <a:schemeClr val="bg2"/>
                </a:solidFill>
              </a:rPr>
              <a:t>Start as a new student, or open the Saranda House Admin and the Programme Organiser.</a:t>
            </a:r>
            <a:endParaRPr lang="en-US" sz="1400" dirty="0"/>
          </a:p>
        </p:txBody>
      </p:sp>
      <p:sp>
        <p:nvSpPr>
          <p:cNvPr id="14" name="closing card 3"/>
          <p:cNvSpPr/>
          <p:nvPr/>
        </p:nvSpPr>
        <p:spPr>
          <a:xfrm>
            <a:off x="8138160" y="3977640"/>
            <a:ext cx="3520440" cy="2011680"/>
          </a:xfrm>
          <a:prstGeom prst="roundRect">
            <a:avLst>
              <a:gd name="adj" fmla="val 8182"/>
            </a:avLst>
          </a:prstGeom>
          <a:solidFill>
            <a:schemeClr val="bg1">
              <a:alpha val="12000"/>
            </a:schemeClr>
          </a:solidFill>
          <a:ln w="15875">
            <a:solidFill>
              <a:schemeClr val="bg1">
                <a:alpha val="45000"/>
              </a:schemeClr>
            </a:solidFill>
            <a:prstDash val="solid"/>
          </a:ln>
          <a:effectLst>
            <a:outerShdw sx="100000" sy="100000" kx="0" ky="0" algn="bl" rotWithShape="0" blurRad="177800" dist="50800" dir="5400000">
              <a:srgbClr val="000000">
                <a:alpha val="30000"/>
              </a:srgbClr>
            </a:outerShdw>
          </a:effectLst>
        </p:spPr>
      </p:sp>
      <p:sp>
        <p:nvSpPr>
          <p:cNvPr id="15" name="closing 3 circle"/>
          <p:cNvSpPr/>
          <p:nvPr/>
        </p:nvSpPr>
        <p:spPr>
          <a:xfrm>
            <a:off x="8412480" y="4206240"/>
            <a:ext cx="548640" cy="548640"/>
          </a:xfrm>
          <a:prstGeom prst="ellipse">
            <a:avLst/>
          </a:prstGeom>
          <a:solidFill>
            <a:schemeClr val="accent1"/>
          </a:solidFill>
          <a:ln w="19050">
            <a:solidFill>
              <a:schemeClr val="bg1"/>
            </a:solidFill>
            <a:prstDash val="solid"/>
          </a:ln>
        </p:spPr>
      </p:sp>
      <p:pic>
        <p:nvPicPr>
          <p:cNvPr id="16" name="closing 3 icon" descr="preencoded.png">    </p:cNvPr>
          <p:cNvPicPr>
            <a:picLocks noChangeAspect="1"/>
          </p:cNvPicPr>
          <p:nvPr/>
        </p:nvPicPr>
        <p:blipFill>
          <a:blip r:embed="rId3"/>
          <a:stretch>
            <a:fillRect/>
          </a:stretch>
        </p:blipFill>
        <p:spPr>
          <a:xfrm>
            <a:off x="8544154" y="4337914"/>
            <a:ext cx="285293" cy="285293"/>
          </a:xfrm>
          <a:prstGeom prst="rect">
            <a:avLst/>
          </a:prstGeom>
        </p:spPr>
      </p:pic>
      <p:sp>
        <p:nvSpPr>
          <p:cNvPr id="17" name="closing title 3"/>
          <p:cNvSpPr txBox="1"/>
          <p:nvPr/>
        </p:nvSpPr>
        <p:spPr>
          <a:xfrm>
            <a:off x="9098280" y="4206240"/>
            <a:ext cx="2377440" cy="548640"/>
          </a:xfrm>
          <a:prstGeom prst="rect">
            <a:avLst/>
          </a:prstGeom>
          <a:noFill/>
          <a:ln/>
        </p:spPr>
        <p:txBody>
          <a:bodyPr wrap="square" lIns="0" tIns="0" rIns="0" bIns="0" rtlCol="0" anchor="ctr"/>
          <a:lstStyle/>
          <a:p>
            <a:pPr indent="0" marL="0">
              <a:buNone/>
            </a:pPr>
            <a:r>
              <a:rPr lang="en-US" sz="1700" b="1" dirty="0">
                <a:solidFill>
                  <a:schemeClr val="bg1"/>
                </a:solidFill>
              </a:rPr>
              <a:t>Source code</a:t>
            </a:r>
            <a:endParaRPr lang="en-US" sz="1700" dirty="0"/>
          </a:p>
        </p:txBody>
      </p:sp>
      <p:sp>
        <p:nvSpPr>
          <p:cNvPr id="18" name="closing body 3"/>
          <p:cNvSpPr txBox="1"/>
          <p:nvPr/>
        </p:nvSpPr>
        <p:spPr>
          <a:xfrm>
            <a:off x="8412480" y="4892040"/>
            <a:ext cx="3017520" cy="960120"/>
          </a:xfrm>
          <a:prstGeom prst="rect">
            <a:avLst/>
          </a:prstGeom>
          <a:noFill/>
          <a:ln/>
        </p:spPr>
        <p:txBody>
          <a:bodyPr wrap="square" lIns="0" tIns="0" rIns="0" bIns="0" rtlCol="0" anchor="t"/>
          <a:lstStyle/>
          <a:p>
            <a:pPr indent="0" marL="0">
              <a:buNone/>
            </a:pPr>
            <a:r>
              <a:rPr lang="en-US" sz="1400" dirty="0">
                <a:solidFill>
                  <a:schemeClr val="bg2"/>
                </a:solidFill>
              </a:rPr>
              <a:t>github.com/singhgurubindra1-sudo/IITM-Hackathon-Project</a:t>
            </a:r>
            <a:endParaRPr lang="en-US" sz="1400" dirty="0"/>
          </a:p>
        </p:txBody>
      </p:sp>
    </p:spTree>
  </p:cSld>
  <p:clrMapOvr>
    <a:masterClrMapping/>
  </p:clrMapOvr>
</p:sld>
</file>

<file path=ppt/theme/theme1.xml><?xml version="1.0" encoding="utf-8"?>
<a:theme xmlns:a="http://schemas.openxmlformats.org/drawingml/2006/main" name="Wildlands">
  <a:themeElements>
    <a:clrScheme name="Wildlands">
      <a:dk1>
        <a:srgbClr val="16261B"/>
      </a:dk1>
      <a:lt1>
        <a:srgbClr val="FFFFFF"/>
      </a:lt1>
      <a:dk2>
        <a:srgbClr val="134A2B"/>
      </a:dk2>
      <a:lt2>
        <a:srgbClr val="EAF5E4"/>
      </a:lt2>
      <a:accent1>
        <a:srgbClr val="1F6B40"/>
      </a:accent1>
      <a:accent2>
        <a:srgbClr val="8CC45A"/>
      </a:accent2>
      <a:accent3>
        <a:srgbClr val="F2B632"/>
      </a:accent3>
      <a:accent4>
        <a:srgbClr val="3B82C4"/>
      </a:accent4>
      <a:accent5>
        <a:srgbClr val="E0912F"/>
      </a:accent5>
      <a:accent6>
        <a:srgbClr val="B4519B"/>
      </a:accent6>
      <a:hlink>
        <a:srgbClr val="1F6B40"/>
      </a:hlink>
      <a:folHlink>
        <a:srgbClr val="134A2B"/>
      </a:folHlink>
    </a:clrScheme>
    <a:fontScheme name="Wildland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Wildlands: a living house ecosystem</dc:title>
  <dc:subject>Saranda House Build-a-Thon '26, Theme 04: House Odyssey</dc:subject>
  <dc:creator>Wildlands team</dc:creator>
  <cp:lastModifiedBy>Wildlands team</cp:lastModifiedBy>
  <cp:revision>1</cp:revision>
  <dcterms:created xsi:type="dcterms:W3CDTF">2026-10-17T10:32:37Z</dcterms:created>
  <dcterms:modified xsi:type="dcterms:W3CDTF">2026-10-17T10:32:37Z</dcterms:modified>
</cp:coreProperties>
</file>